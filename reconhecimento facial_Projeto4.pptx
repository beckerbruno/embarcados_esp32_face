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48"/>
  </p:notesMasterIdLst>
  <p:handoutMasterIdLst>
    <p:handoutMasterId r:id="rId49"/>
  </p:handoutMasterIdLst>
  <p:sldIdLst>
    <p:sldId id="312" r:id="rId5"/>
    <p:sldId id="304" r:id="rId6"/>
    <p:sldId id="322" r:id="rId7"/>
    <p:sldId id="363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38" r:id="rId23"/>
    <p:sldId id="323" r:id="rId24"/>
    <p:sldId id="324" r:id="rId25"/>
    <p:sldId id="325" r:id="rId26"/>
    <p:sldId id="326" r:id="rId27"/>
    <p:sldId id="327" r:id="rId28"/>
    <p:sldId id="328" r:id="rId29"/>
    <p:sldId id="356" r:id="rId30"/>
    <p:sldId id="333" r:id="rId31"/>
    <p:sldId id="335" r:id="rId32"/>
    <p:sldId id="334" r:id="rId33"/>
    <p:sldId id="332" r:id="rId34"/>
    <p:sldId id="362" r:id="rId35"/>
    <p:sldId id="330" r:id="rId36"/>
    <p:sldId id="353" r:id="rId37"/>
    <p:sldId id="354" r:id="rId38"/>
    <p:sldId id="355" r:id="rId39"/>
    <p:sldId id="331" r:id="rId40"/>
    <p:sldId id="361" r:id="rId41"/>
    <p:sldId id="357" r:id="rId42"/>
    <p:sldId id="358" r:id="rId43"/>
    <p:sldId id="359" r:id="rId44"/>
    <p:sldId id="360" r:id="rId45"/>
    <p:sldId id="336" r:id="rId46"/>
    <p:sldId id="337" r:id="rId47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F33CC"/>
    <a:srgbClr val="CC3300"/>
    <a:srgbClr val="FF9900"/>
    <a:srgbClr val="006600"/>
    <a:srgbClr val="00FF00"/>
    <a:srgbClr val="FDFBF6"/>
    <a:srgbClr val="AAC4E9"/>
    <a:srgbClr val="F5CDCE"/>
    <a:srgbClr val="DF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388" autoAdjust="0"/>
  </p:normalViewPr>
  <p:slideViewPr>
    <p:cSldViewPr snapToGrid="0" snapToObjects="1">
      <p:cViewPr varScale="1">
        <p:scale>
          <a:sx n="90" d="100"/>
          <a:sy n="90" d="100"/>
        </p:scale>
        <p:origin x="126" y="9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767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tware/CMake/releases/download/v3.30.5/cmake-3.30.5-windows-x86_64.msi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2000" TargetMode="External"/><Relationship Id="rId7" Type="http://schemas.openxmlformats.org/officeDocument/2006/relationships/hyperlink" Target="https://pt.wikipedia.org/wiki/Licen%C3%A7a_BSD" TargetMode="External"/><Relationship Id="rId2" Type="http://schemas.openxmlformats.org/officeDocument/2006/relationships/hyperlink" Target="https://pt.wikipedia.org/wiki/Intel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t.wikipedia.org/wiki/Vis%C3%A3o_computacional" TargetMode="External"/><Relationship Id="rId5" Type="http://schemas.openxmlformats.org/officeDocument/2006/relationships/hyperlink" Target="https://pt.wikipedia.org/wiki/Acad%C3%AAmico" TargetMode="External"/><Relationship Id="rId4" Type="http://schemas.openxmlformats.org/officeDocument/2006/relationships/hyperlink" Target="https://pt.wikipedia.org/wiki/Biblioteca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19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0677" y="810227"/>
            <a:ext cx="6807200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sz="2800" dirty="0"/>
              <a:t>reconhecimento facial</a:t>
            </a:r>
            <a:br>
              <a:rPr lang="pt-BR" sz="2800" dirty="0"/>
            </a:br>
            <a:br>
              <a:rPr lang="pt-BR" sz="2800" dirty="0"/>
            </a:br>
            <a:r>
              <a:rPr lang="pt-BR" sz="2800" dirty="0"/>
              <a:t>usando</a:t>
            </a:r>
            <a:br>
              <a:rPr lang="pt-BR" sz="2800" dirty="0"/>
            </a:br>
            <a:br>
              <a:rPr lang="pt-BR" sz="2800" dirty="0"/>
            </a:br>
            <a:r>
              <a:rPr lang="pt-BR" sz="2800" dirty="0" err="1"/>
              <a:t>Opencv</a:t>
            </a:r>
            <a:r>
              <a:rPr lang="pt-BR" sz="2800" dirty="0"/>
              <a:t> + FACE_RECOGNITION </a:t>
            </a:r>
            <a:br>
              <a:rPr lang="pt-BR" sz="2800" dirty="0"/>
            </a:br>
            <a:br>
              <a:rPr lang="pt-BR" sz="2800" dirty="0"/>
            </a:br>
            <a:r>
              <a:rPr lang="pt-BR" sz="2800" dirty="0" err="1"/>
              <a:t>QtDesign</a:t>
            </a:r>
            <a:r>
              <a:rPr lang="pt-BR" sz="2800" dirty="0"/>
              <a:t> + </a:t>
            </a:r>
            <a:r>
              <a:rPr lang="pt-BR" sz="2800" dirty="0" err="1"/>
              <a:t>python</a:t>
            </a:r>
            <a:r>
              <a:rPr lang="pt-BR" sz="2800" dirty="0"/>
              <a:t> + esp32</a:t>
            </a:r>
            <a:br>
              <a:rPr lang="pt-BR" dirty="0"/>
            </a:br>
            <a:br>
              <a:rPr lang="pt-BR" dirty="0"/>
            </a:br>
            <a:r>
              <a:rPr lang="pt-BR" sz="1400" i="1" cap="none" dirty="0"/>
              <a:t>Prof. Anderson Terroso</a:t>
            </a:r>
            <a:br>
              <a:rPr lang="pt-BR" sz="1400" i="1" cap="none" dirty="0"/>
            </a:br>
            <a:r>
              <a:rPr lang="pt-BR" sz="1400" i="1" cap="none" dirty="0"/>
              <a:t>Novembro/2024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26" y="-10626"/>
            <a:ext cx="2396974" cy="62303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57" y="505838"/>
            <a:ext cx="7995799" cy="6352162"/>
          </a:xfrm>
        </p:spPr>
        <p:txBody>
          <a:bodyPr rtlCol="0">
            <a:normAutofit fontScale="92500" lnSpcReduction="10000"/>
          </a:bodyPr>
          <a:lstStyle>
            <a:defPPr>
              <a:defRPr lang="pt-BR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Instalação do </a:t>
            </a:r>
            <a:r>
              <a:rPr lang="pt-BR" sz="1800" b="1" dirty="0" err="1"/>
              <a:t>face_recognition</a:t>
            </a:r>
            <a:r>
              <a:rPr lang="pt-BR" sz="1800" b="1" dirty="0"/>
              <a:t>, </a:t>
            </a:r>
            <a:r>
              <a:rPr lang="pt-BR" sz="1800" b="1" dirty="0" err="1"/>
              <a:t>OpenCV</a:t>
            </a:r>
            <a:r>
              <a:rPr lang="pt-BR" sz="1800" b="1" dirty="0"/>
              <a:t>, </a:t>
            </a:r>
            <a:r>
              <a:rPr lang="pt-BR" sz="1800" b="1" dirty="0" err="1"/>
              <a:t>Dlib</a:t>
            </a:r>
            <a:r>
              <a:rPr lang="pt-BR" sz="1800" b="1" dirty="0"/>
              <a:t> e </a:t>
            </a:r>
            <a:r>
              <a:rPr lang="pt-BR" sz="1800" b="1" dirty="0" err="1"/>
              <a:t>Cmake</a:t>
            </a:r>
            <a:endParaRPr lang="pt-BR" sz="1800" b="1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 err="1"/>
              <a:t>OpenCV</a:t>
            </a:r>
            <a:r>
              <a:rPr lang="pt-BR" sz="1800" b="1" dirty="0"/>
              <a:t> (Introdução, Principais Algoritmos e Funcionalidades Nativas e  Principais Métodos do </a:t>
            </a:r>
            <a:r>
              <a:rPr lang="pt-BR" sz="1800" b="1" dirty="0" err="1"/>
              <a:t>OpenCV</a:t>
            </a:r>
            <a:r>
              <a:rPr lang="pt-BR" sz="1800" b="1" dirty="0"/>
              <a:t>).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Reconhecimento facial – </a:t>
            </a:r>
            <a:r>
              <a:rPr lang="pt-BR" sz="1800" b="1" dirty="0" err="1"/>
              <a:t>face_recognition</a:t>
            </a:r>
            <a:r>
              <a:rPr lang="pt-BR" sz="1800" b="1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Principais funcionalidades.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Principais funções da biblioteca.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 err="1"/>
              <a:t>Dlib</a:t>
            </a:r>
            <a:r>
              <a:rPr lang="pt-BR" sz="1800" b="1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Diferenças entre </a:t>
            </a:r>
            <a:r>
              <a:rPr lang="pt-BR" sz="1800" b="1" dirty="0" err="1"/>
              <a:t>Dlib</a:t>
            </a:r>
            <a:r>
              <a:rPr lang="pt-BR" sz="1800" b="1" dirty="0"/>
              <a:t> e </a:t>
            </a:r>
            <a:r>
              <a:rPr lang="pt-BR" sz="1800" b="1" dirty="0" err="1"/>
              <a:t>Mediapipe</a:t>
            </a:r>
            <a:r>
              <a:rPr lang="pt-BR" sz="1800" b="1" dirty="0"/>
              <a:t> Face </a:t>
            </a:r>
            <a:r>
              <a:rPr lang="pt-BR" sz="1800" b="1" dirty="0" err="1"/>
              <a:t>Mesh</a:t>
            </a:r>
            <a:r>
              <a:rPr lang="pt-BR" sz="1800" b="1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 err="1"/>
              <a:t>Import</a:t>
            </a:r>
            <a:r>
              <a:rPr lang="pt-BR" sz="1800" b="1" dirty="0"/>
              <a:t> </a:t>
            </a:r>
            <a:r>
              <a:rPr lang="pt-BR" sz="1800" b="1" dirty="0" err="1"/>
              <a:t>pinckle</a:t>
            </a:r>
            <a:r>
              <a:rPr lang="pt-BR" sz="1800" b="1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Principais funções da </a:t>
            </a:r>
            <a:r>
              <a:rPr lang="pt-BR" sz="1800" b="1" dirty="0" err="1"/>
              <a:t>pinckle</a:t>
            </a:r>
            <a:r>
              <a:rPr lang="pt-BR" sz="1800" b="1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Fluxograma textual detalhado do programa de captura de face.</a:t>
            </a:r>
          </a:p>
          <a:p>
            <a:pPr marL="690372" lvl="1" indent="-342900">
              <a:buFont typeface="Wingdings" panose="05000000000000000000" pitchFamily="2" charset="2"/>
              <a:buChar char="Ø"/>
            </a:pPr>
            <a:r>
              <a:rPr lang="pt-BR" sz="1600" b="1" dirty="0"/>
              <a:t>Implementação do programa Python x fluxograma textual detalhado.</a:t>
            </a:r>
          </a:p>
          <a:p>
            <a:pPr marL="690372" lvl="1" indent="-342900">
              <a:buFont typeface="Wingdings" panose="05000000000000000000" pitchFamily="2" charset="2"/>
              <a:buChar char="Ø"/>
            </a:pPr>
            <a:r>
              <a:rPr lang="pt-BR" sz="1600" b="1" dirty="0"/>
              <a:t>Programa completo de captura de face.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Fluxograma textual detalhado do programa de reconhecimento de facial.</a:t>
            </a:r>
          </a:p>
          <a:p>
            <a:pPr marL="690372" lvl="1" indent="-342900">
              <a:buFont typeface="Wingdings" panose="05000000000000000000" pitchFamily="2" charset="2"/>
              <a:buChar char="Ø"/>
            </a:pPr>
            <a:r>
              <a:rPr lang="pt-BR" sz="1600" b="1" dirty="0"/>
              <a:t>Implementação do programa Python x fluxograma textual detalhado.</a:t>
            </a:r>
          </a:p>
          <a:p>
            <a:pPr marL="690372" lvl="1" indent="-342900">
              <a:buFont typeface="Wingdings" panose="05000000000000000000" pitchFamily="2" charset="2"/>
              <a:buChar char="Ø"/>
            </a:pPr>
            <a:r>
              <a:rPr lang="pt-BR" sz="1600" b="1" dirty="0"/>
              <a:t>Programa completo de reconhecimento facial.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Abrir Câmera, Salvar frame e abrir frame usando o </a:t>
            </a:r>
            <a:r>
              <a:rPr lang="pt-BR" sz="1800" b="1" dirty="0" err="1"/>
              <a:t>QtDesign</a:t>
            </a:r>
            <a:r>
              <a:rPr lang="pt-BR" sz="1800" b="1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800" b="1" dirty="0"/>
              <a:t>Memorial descritivo do Projeto 4.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F262B3C-AD76-B7B6-D740-F2FCBF4C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1010094"/>
            <a:ext cx="11301045" cy="409074"/>
          </a:xfrm>
        </p:spPr>
        <p:txBody>
          <a:bodyPr/>
          <a:lstStyle/>
          <a:p>
            <a:r>
              <a:rPr lang="pt-BR" sz="2800" dirty="0"/>
              <a:t>Instalação do </a:t>
            </a:r>
            <a:r>
              <a:rPr lang="pt-BR" sz="2800" dirty="0" err="1"/>
              <a:t>cmake</a:t>
            </a:r>
            <a:r>
              <a:rPr lang="pt-BR" sz="2800" dirty="0"/>
              <a:t>, </a:t>
            </a:r>
            <a:r>
              <a:rPr lang="pt-BR" sz="2800" dirty="0" err="1"/>
              <a:t>dlib</a:t>
            </a:r>
            <a:r>
              <a:rPr lang="pt-BR" sz="2800" dirty="0"/>
              <a:t> e </a:t>
            </a:r>
            <a:r>
              <a:rPr lang="pt-BR" sz="2800" dirty="0" err="1"/>
              <a:t>face_recognition</a:t>
            </a:r>
            <a:endParaRPr lang="pt-BR" sz="2800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93AE2CD-7C05-E977-359C-95201BB75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7516" y="1711842"/>
            <a:ext cx="10776322" cy="4695655"/>
          </a:xfrm>
        </p:spPr>
        <p:txBody>
          <a:bodyPr>
            <a:normAutofit/>
          </a:bodyPr>
          <a:lstStyle/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endParaRPr lang="pt-BR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opencv-python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pt-BR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Cmake</a:t>
            </a:r>
            <a:endParaRPr lang="pt-BR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https://github.com/Kitware/CMake/releases/download/v3.30.5/cmake-3.30.5-windows-x86_64.msi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Dlib</a:t>
            </a:r>
            <a:endParaRPr lang="pt-BR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7">
            <a:extLst>
              <a:ext uri="{FF2B5EF4-FFF2-40B4-BE49-F238E27FC236}">
                <a16:creationId xmlns:a16="http://schemas.microsoft.com/office/drawing/2014/main" id="{8CE4A37E-B9BF-4869-AA6B-F7CF98F5A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64865" y="870052"/>
            <a:ext cx="10776322" cy="5987948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è"/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Verifique a versão do NUMPY, no Prompt de Comando ===&gt;</a:t>
            </a: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a versão não seja a 1.26.4, por favor faça a instalação da versão 1.26.4</a:t>
            </a: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Verifique novamente a versão do NUMPY, no </a:t>
            </a:r>
            <a:r>
              <a:rPr lang="pt-BR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Comando ===&gt;</a:t>
            </a: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51586C-9318-4FF5-97C9-41432532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593" y="738872"/>
            <a:ext cx="3283006" cy="6856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69F6D24-4A41-4AF2-A5FA-D6380B4F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39" y="1790943"/>
            <a:ext cx="2576787" cy="86724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805FDE6-4C49-4521-AB3B-C977A6A9D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740" y="5236417"/>
            <a:ext cx="4385984" cy="1503062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4D8A8A82-C6BD-4665-81CA-1E966AF5EB52}"/>
              </a:ext>
            </a:extLst>
          </p:cNvPr>
          <p:cNvSpPr/>
          <p:nvPr/>
        </p:nvSpPr>
        <p:spPr>
          <a:xfrm>
            <a:off x="3332654" y="2051420"/>
            <a:ext cx="441158" cy="33688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B40D4B3-E31D-4861-9FE7-804D58728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842" y="3864026"/>
            <a:ext cx="3254367" cy="95053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6149ECF-CB59-4D2E-BDC3-DD42BEAAE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740" y="1328202"/>
            <a:ext cx="4385984" cy="1891456"/>
          </a:xfrm>
          <a:prstGeom prst="rect">
            <a:avLst/>
          </a:prstGeom>
        </p:spPr>
      </p:pic>
      <p:sp>
        <p:nvSpPr>
          <p:cNvPr id="15" name="Título 5">
            <a:extLst>
              <a:ext uri="{FF2B5EF4-FFF2-40B4-BE49-F238E27FC236}">
                <a16:creationId xmlns:a16="http://schemas.microsoft.com/office/drawing/2014/main" id="{02062394-C29B-4A02-B468-1170A642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614"/>
            <a:ext cx="12191999" cy="409074"/>
          </a:xfrm>
        </p:spPr>
        <p:txBody>
          <a:bodyPr/>
          <a:lstStyle/>
          <a:p>
            <a:r>
              <a:rPr lang="pt-BR" sz="2400" dirty="0"/>
              <a:t>Observação importante: verificar a versão do </a:t>
            </a:r>
            <a:r>
              <a:rPr lang="pt-BR" sz="2400" dirty="0" err="1"/>
              <a:t>numpy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6847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13BDB-3D46-C560-FAA7-81A9F9B1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77779"/>
            <a:ext cx="10511627" cy="521367"/>
          </a:xfrm>
        </p:spPr>
        <p:txBody>
          <a:bodyPr/>
          <a:lstStyle/>
          <a:p>
            <a:r>
              <a:rPr lang="pt-BR" dirty="0" err="1"/>
              <a:t>Opencv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D3D45-7E20-5DF3-2F79-1F3615739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499938"/>
            <a:ext cx="10511627" cy="5245950"/>
          </a:xfrm>
        </p:spPr>
        <p:txBody>
          <a:bodyPr>
            <a:normAutofit/>
          </a:bodyPr>
          <a:lstStyle/>
          <a:p>
            <a:pPr algn="just"/>
            <a:r>
              <a:rPr lang="pt-BR" b="1" i="0" dirty="0" err="1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pt-BR" b="0" i="1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pt-BR" b="0" i="1" dirty="0" err="1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pt-BR" b="0" i="1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Computer Vision Library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originalmente, desenvolvida pela </a:t>
            </a:r>
            <a:r>
              <a:rPr lang="pt-BR" b="0" i="0" u="none" strike="noStrike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Int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em </a:t>
            </a:r>
            <a:r>
              <a:rPr lang="pt-BR" b="0" i="0" u="none" strike="noStrike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200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2000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é uma </a:t>
            </a:r>
            <a:r>
              <a:rPr lang="pt-BR" b="0" i="0" u="none" strike="noStrike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Bibliote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biblioteca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multiplataforma, totalmente livre ao uso </a:t>
            </a:r>
            <a:r>
              <a:rPr lang="pt-BR" b="0" i="0" u="none" strike="noStrike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Acadêm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acadêmico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 comercial, para o desenvolvimento de aplicativos na área de </a:t>
            </a:r>
            <a:r>
              <a:rPr lang="pt-BR" b="0" i="0" u="none" strike="noStrike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 tooltip="Visão computacio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Visão computacional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bastando seguir o modelo de </a:t>
            </a:r>
            <a:r>
              <a:rPr lang="pt-BR" b="0" i="0" u="none" strike="noStrike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Licença BS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 BSD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b="0" i="0" u="none" strike="noStrike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Int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solidFill>
                  <a:srgbClr val="202C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dirty="0" err="1">
                <a:solidFill>
                  <a:srgbClr val="202C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lang="pt-BR" dirty="0">
                <a:solidFill>
                  <a:srgbClr val="202C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uma das bibliotecas mais poderosas para tarefas de visão computacional e processamento de imagens, oferecendo uma ampla gama de algoritmos nativos que cobrem desde operações básicas, como manipulação de imagens, até algoritmos avançados para reconhecimento de padrões, aprendizado de máquina e visão 3D.</a:t>
            </a:r>
          </a:p>
          <a:p>
            <a:pPr algn="just"/>
            <a:endParaRPr lang="pt-BR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b="1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Módulo das principais funcionalidades e algoritmos de Visão Computacional do </a:t>
            </a:r>
            <a:r>
              <a:rPr lang="pt-BR" b="0" i="0" dirty="0" err="1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lang="pt-BR" b="0" i="0" dirty="0"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pt-BR" dirty="0">
                <a:solidFill>
                  <a:srgbClr val="202C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6980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DF3B5-F0D8-D39A-F6C8-0F32CA29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44" y="550881"/>
            <a:ext cx="10848511" cy="1012785"/>
          </a:xfrm>
        </p:spPr>
        <p:txBody>
          <a:bodyPr/>
          <a:lstStyle/>
          <a:p>
            <a:r>
              <a:rPr lang="pt-BR" dirty="0"/>
              <a:t>principais algoritmos e funcionalidades nativas do </a:t>
            </a:r>
            <a:r>
              <a:rPr lang="pt-BR" dirty="0" err="1"/>
              <a:t>OpenCV</a:t>
            </a:r>
            <a:endParaRPr lang="pt-BR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255C815-B63B-3BF2-2C78-65A28551F162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71744" y="1862851"/>
            <a:ext cx="1075428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Processamento de Imagens Básico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1.1 Leitura e Escrita de Imagens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cv2.imread(): Lê uma imagem de um arquivo.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cv2.imwrite(): Escreve uma imagem em um arquivo.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1.2 Transformações Geométricas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Redimensionamento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cv2.resize()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Rotação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Pode ser feita utilizando a matriz de transformação afim ou a função cv2.warpAffine().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Corte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Pode ser feito manipulando o índice das regiões da imagem.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Transformações Afins e Perspectivas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cv2.getAffineTransform(), cv2.getPerspectiveTransform() para transformação geométrica complexa.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1.3 Filtragem e Filtros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Desfoque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cv2.GaussianBlur(), cv2.blur(), cv2.medianBlur().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Filtros Sobel (detecção de bordas)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cv2.Sobel(), cv2.Laplacian(), cv2.Canny() para detecção de bordas.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Equalização de Histograma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cv2.equalizeHist() para melhorar o contraste da imagem.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42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5682F5B-F84F-C67A-7CD7-1CEA9057910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584886" y="613694"/>
            <a:ext cx="10824519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Detecção de Características e Padrões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2.1 Detecção de Bordas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Filtro de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Canny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cv2.Canny() — Um dos algoritmos mais populares para detecção de bordas em imagens.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2.2 Detecção de Contornos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cv2.findContours() — Detecta e extrai contornos a partir de uma imagem binária, sendo muito útil para análise de formas.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cv2.drawContours() — Desenha os contornos detectados.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2.3 Pontos de Interesse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Harris Corner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cv2.cornerHarris() — Detecta esquinas (ou cantos) em uma imagem, importante para tarefas de correspondência de pontos.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Shi-Tomasi Corner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Features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Track)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cv2.goodFeaturesToTrack() — Detecta pontos de interesse que são bons para rastrear.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SURF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Speeded-Up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Robust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Features)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cv2.xfeatures2d.SURF_create() — Uma técnica robusta para detectar e descrever pontos de interesse, mas depende de uma versão não-livre do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contrib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SIFT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Scale-Invariant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Feature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Transform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cv2.SIFT_create() — Detecta características locais invariante a escalas e rotações, muito utilizado em correspondência de imagens (também requer o módulo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contrib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ORB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Oriented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FAST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Rotated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BRIEF)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cv2.ORB_create() — Uma alternativa mais eficiente ao SIFT e SURF, e pode ser usada sem depender de pacotes adicionais.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22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5FBDE6C8-3AEE-8723-5064-B1445F58B626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21740" y="413266"/>
            <a:ext cx="1066843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Detecção e Reconhecimento de Objetos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3.1 Classificação de Objetos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Haar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Cascades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cv2.CascadeClassifier() — Um dos métodos mais populares para detecção de objetos, especialmente para detecção de rostos, usando classificadores em cascata de Haar.</a:t>
            </a: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Exemplo: Detectar rostos com cv2.CascadeClassifier('haarcascade_frontalface_default.xml').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Detecção de Faces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Usando a técnica de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Haar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cascades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ou, mais recentemente, métodos baseados em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learning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DNN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Neural Networks).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3.2 Detecção de Formas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fornece várias funções para detectar e aproximar formas geométricas em uma imagem, como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círculos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(via transformada de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Hough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linhas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(via transformada de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Hough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pt-BR" altLang="pt-BR" sz="16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Visão Estéreo e 3D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4.1 Reconhecimento de Profundidade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Estéreo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Correspondence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inclui métodos para processamento estéreo de imagens, como a correspondência estéreo baseada em algoritmos de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Semi-Global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Funções como cv2.stereoBM_create() ou cv2.stereoSGBM_create() para criar um mapa de disparidade entre duas imagens.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4.2 Reconstrução 3D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oferece ferramentas para reconstrução de modelos 3D a partir de imagens estéreo, usando técnicas de triangulação e reconstrução com múltiplas imagens.</a:t>
            </a:r>
          </a:p>
        </p:txBody>
      </p:sp>
    </p:spTree>
    <p:extLst>
      <p:ext uri="{BB962C8B-B14F-4D97-AF65-F5344CB8AC3E}">
        <p14:creationId xmlns:p14="http://schemas.microsoft.com/office/powerpoint/2010/main" val="153611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6E6CD78-F987-253F-6592-FFE57BA73B83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50790" y="363915"/>
            <a:ext cx="10775236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Reconhecimento de Faces e Padrões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5.1 Reconhecimento Facial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Reconhecimento de Faces com Classificadores em Cascata de Haar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Usando cv2.CascadeClassifier(), é possível detectar faces em imagens com boa precisão, mesmo em tempo real.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 Reconhecimento de Faces com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Learning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partir do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3.0, com a adição de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dnn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module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Neural Network), é possível usar redes neurais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pré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-treinadas (como redes baseadas em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Caffe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Torch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para reconhecimento facial e de objetos. Usamos cv2.dnn.readNet() para carregar e executar modelos de redes neurais.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5.3 Reconhecimento de Padrões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cv2.matchTemplate() — Permite encontrar uma "cópia" de uma imagem dentro de uma imagem maior. Isso é útil para detecção de padrões ou objetos em imagens.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Operações Morfológicas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operações morfológicas são fundamentais no processamento de imagens binárias e ajudam a modificar ou aprimorar as formas representadas na imagem.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Erosão e Dilatação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cv2.erode() — Remove pixels da borda das áreas brancas (reduz áreas brancas).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cv2.dilate() — Expande as áreas brancas na imagem.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Abertura e Fechamento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cv2.morphologyEx() — Funções que combinam erosão e dilatação de maneiras específicas. A operação de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abertura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(erosão seguida de dilatação) 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fechamento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(dilatação seguida de erosão) ajudam a remover ruídos em imagens binárias.</a:t>
            </a:r>
          </a:p>
        </p:txBody>
      </p:sp>
    </p:spTree>
    <p:extLst>
      <p:ext uri="{BB962C8B-B14F-4D97-AF65-F5344CB8AC3E}">
        <p14:creationId xmlns:p14="http://schemas.microsoft.com/office/powerpoint/2010/main" val="1241316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183E4AE-0312-9098-46F0-DBEB7001B649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49571" y="515625"/>
            <a:ext cx="10692858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 Tracking e Reconhecimento de Movimento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7.1 Algoritmos de Rastreio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inclui vários algoritmos para rastrear objetos em movimento ou pontos de interesse em vídeos, como: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KLT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Kanade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-Lucas-Tomasi)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cv2.calcOpticalFlowPyrLK() — Usado para rastrear pontos de interesse ao longo de uma sequência de imagens.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Meanshift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cv2.meanShift() — Um método iterativo que localiza a posição de um objeto com base em um histograma de cores.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Camshift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cv2.CamShift() — Uma extensão do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Meanshift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que ajusta a janela de rastreamento com base no tamanho e forma do objeto.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7.2 Módulo de Fluxo Óptico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Fluxo Óptico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cv2.calcOpticalFlowFarneback() — Detecta o movimento de pixels entre dois frames consecutivos.</a:t>
            </a:r>
          </a:p>
          <a:p>
            <a:pPr marL="338328" lvl="1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 Aprendizado de Máquina (Machine Learning) e </a:t>
            </a:r>
            <a:r>
              <a:rPr kumimoji="0" lang="pt-BR" altLang="pt-BR" sz="1600" b="1" i="0" u="sng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Learning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8.1 Modelos de Machine Learning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inclui uma interface para usar algoritmos clássicos de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como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SVMs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Árvores de Decisão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Nearest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Neighbors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(KNN)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entre outros, usando o módulo cv2.ml.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8.2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Learning com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(DNN Module)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oferece suporte a redes neurais com o módulo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dnn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Ele pode ser usado para executar inferências de redes treinadas com frameworks como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Caffe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Torch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ONNX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2469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ECE88-C14D-5C81-5431-997AD753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422296"/>
            <a:ext cx="10511627" cy="652526"/>
          </a:xfrm>
        </p:spPr>
        <p:txBody>
          <a:bodyPr/>
          <a:lstStyle/>
          <a:p>
            <a:r>
              <a:rPr lang="pt-BR" dirty="0"/>
              <a:t>Principais métodos do </a:t>
            </a:r>
            <a:r>
              <a:rPr lang="pt-BR" dirty="0" err="1"/>
              <a:t>opencv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A671C-CAFD-BD3D-4090-948FB6D79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3768" y="1074823"/>
            <a:ext cx="10892590" cy="53259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1. Abrindo uma Imagem</a:t>
            </a:r>
          </a:p>
          <a:p>
            <a:pPr marL="0" indent="0"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Para abrir uma imagem, utiliza-se a função cv2.imread(). </a:t>
            </a:r>
          </a:p>
          <a:p>
            <a:pPr marL="0" indent="0"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Ela carrega uma imagem a partir de um arquivo.</a:t>
            </a:r>
          </a:p>
          <a:p>
            <a:pPr marL="0" indent="0">
              <a:buNone/>
            </a:pPr>
            <a:r>
              <a:rPr lang="pt-BR" sz="16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cv2</a:t>
            </a:r>
          </a:p>
          <a:p>
            <a:pPr marL="0" indent="0">
              <a:buNone/>
            </a:pP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 = cv2.imread('caminho_da_imagem.jpg’)	 # Abrir imagem</a:t>
            </a:r>
          </a:p>
          <a:p>
            <a:pPr marL="0" indent="0">
              <a:buNone/>
            </a:pP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cv2.imshow('Imagem', imagem)	 # Exibir a imagem</a:t>
            </a:r>
          </a:p>
          <a:p>
            <a:pPr marL="0" indent="0">
              <a:buNone/>
            </a:pP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cv2.waitKey(0)  			# Espera uma tecla ser pressionada</a:t>
            </a:r>
          </a:p>
          <a:p>
            <a:pPr marL="0" indent="0">
              <a:buNone/>
            </a:pP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Convertendo Imagem para Preto e Branco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converter uma imagem colorida em preto e branco, usamos a função cv2.cvtColor() com o parâmetro cv2.COLOR_BGR2GRAY.</a:t>
            </a:r>
          </a:p>
          <a:p>
            <a:pPr marL="0" indent="0">
              <a:buNone/>
            </a:pPr>
            <a:r>
              <a:rPr lang="pt-BR" sz="16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imagem_gray</a:t>
            </a: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cv2.cvtColor(imagem, cv2.COLOR_BGR2GRAY)	# Converter para escala de cinza</a:t>
            </a:r>
          </a:p>
          <a:p>
            <a:pPr marL="0" indent="0">
              <a:buNone/>
            </a:pP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cv2.imshow('Imagem em Preto e Branco', </a:t>
            </a:r>
            <a:r>
              <a:rPr lang="pt-BR" sz="16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imagem_gray</a:t>
            </a: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		 # Exibir a imagem em preto e branco</a:t>
            </a:r>
          </a:p>
          <a:p>
            <a:pPr marL="0" indent="0">
              <a:buNone/>
            </a:pP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indent="0">
              <a:buNone/>
            </a:pPr>
            <a:r>
              <a:rPr lang="pt-B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552984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ED886F1-E35F-1B42-0785-ED1EC41C96CE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535461" y="670315"/>
            <a:ext cx="1094808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Abrindo a Webcam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sng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capturar vídeo a partir da webcam, usamos a função cv2.VideoCapture(). A captura de vídeo pode ser iniciada com um índice de dispositivo, geralmente 0 para a câmera padrão.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 = cv2.VideoCapture(0)			# Iniciar captura da webcam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frame =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cap.read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			# Capturar frame por frame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cv2.imshow('Webcam', frame)		# Exibir o frame capturado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cv2.waitKey(1) &amp; 0xFF == </a:t>
            </a: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('q’):		# Pressionar 'q' para sair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cap.release</a:t>
            </a: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 				# Libera a câmera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4033104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C0991-E3FA-10CE-E215-FBC39E13F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7517" y="537411"/>
            <a:ext cx="10702108" cy="621631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sz="3400" b="1" u="sng" dirty="0">
                <a:latin typeface="Arial" panose="020B0604020202020204" pitchFamily="34" charset="0"/>
                <a:cs typeface="Arial" panose="020B0604020202020204" pitchFamily="34" charset="0"/>
              </a:rPr>
              <a:t>4. Capturando um Frame Específico</a:t>
            </a:r>
          </a:p>
          <a:p>
            <a:pPr marL="0" indent="0">
              <a:buNone/>
            </a:pPr>
            <a:r>
              <a:rPr lang="pt-BR" sz="3400" dirty="0">
                <a:latin typeface="Arial" panose="020B0604020202020204" pitchFamily="34" charset="0"/>
                <a:cs typeface="Arial" panose="020B0604020202020204" pitchFamily="34" charset="0"/>
              </a:rPr>
              <a:t>Quando se usa uma webcam ou um arquivo de vídeo, podemos capturar frames individuais para processá-los.</a:t>
            </a:r>
          </a:p>
          <a:p>
            <a:pPr marL="0" indent="0">
              <a:buNone/>
            </a:pP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frame = </a:t>
            </a: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cap.read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		# Capturar o primeiro frame da webcam</a:t>
            </a:r>
          </a:p>
          <a:p>
            <a:pPr marL="0" indent="0">
              <a:buNone/>
            </a:pP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cv2.imshow('Frame', frame)</a:t>
            </a:r>
          </a:p>
          <a:p>
            <a:pPr marL="0" indent="0">
              <a:buNone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cv2.waitKey(0)</a:t>
            </a:r>
          </a:p>
          <a:p>
            <a:pPr marL="0" indent="0">
              <a:buNone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pPr marL="0" indent="0">
              <a:buNone/>
            </a:pPr>
            <a:endParaRPr lang="pt-BR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4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Desenhando Círculos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4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4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desenhar círculos na imagem ou no frame, usamos a função cv2.circle(), que exige a posição do centro, o raio e a cor.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34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imagem_circulo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imagem.copy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	# Criar uma cópia para não alterar a original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34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 = (250, 250)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raio = 50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 = (0, 0, 255)  	# Vermelho em BGR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espessura = 2  	# Espessura do círculo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34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cv2.circle(</a:t>
            </a: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imagem_circulo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centro, raio, cor, espessura)	# Desenhando um círculo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cv2.imshow('Imagem com Círculo', </a:t>
            </a:r>
            <a:r>
              <a:rPr lang="pt-BR" sz="3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imagem_circulo</a:t>
            </a: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	# Exibir a imagem com o círculo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3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412157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DA10DF-1DC4-1C6E-3CE5-918DE97EC5A9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29916" y="608100"/>
            <a:ext cx="1073216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Desenhando Retângulos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desenhar um retângulo, usamos cv2.rectangle(). A função exige as coordenadas dos pontos opostos do retângulo.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Desenhando um retângulo na imagem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imagem_retangulo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imagem.copy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ponto_inicial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(100, 100)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ponto_final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(400, 400)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cor_retangulo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(0, 255, 0)	# Verde em BGR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espessura_retangulo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3	# Espessura da borda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cv2.rectangle(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imagem_retangulo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ponto_inicial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ponto_final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cor_retangulo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espessura_retangulo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Exibir a imagem com o retângulo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cv2.imshow('Imagem com Retângulo',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imagem_retangulo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19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2F8103C-9377-53ED-A657-591BA5758AF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04348" y="449706"/>
            <a:ext cx="10829173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 Adicionando Texto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Usamos cv2.putText() para adicionar texto sobre uma imagem ou vídeo.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Adicionando texto à imagem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imagem_texto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imagem.copy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texto = '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posicao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(100, 100)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fonte = cv2.FONT_HERSHEY_SIMPLEX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tamanho_fonte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cor_texto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(255, 0, 0)  # Azul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espessura_texto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cv2.putText(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imagem_texto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texto,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posicao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fonte,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tamanho_fonte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cor_texto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espessura_texto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Exibir a imagem com o texto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cv2.imshow('Imagem com Texto',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imagem_texto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782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54F4F0C-6B0C-CFBF-6789-5CBC27B3018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05853" y="589264"/>
            <a:ext cx="10876547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 Desenhando Linhas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Linhas podem ser desenhadas usando a função cv2.line()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Desenhando uma linha na imagem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imagem_linha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imagem.copy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ponto_inicial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(50, 50)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ponto_final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(400, 400)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cor_linha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(255, 0, 0)  # Azul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espessura_linha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cv2.line(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imagem_linha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ponto_inicial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ponto_final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cor_linha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espessura_linha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Exibir a imagem com a linha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cv2.imshow('Imagem com Linha',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imagem_linha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39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D3B35005-2D6A-504D-D7FF-2AC892140628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01842" y="117693"/>
            <a:ext cx="10788315" cy="67403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9. Aplicando Filtros (Desfoque e Filtros de Níveis de Cinza)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sng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fornece filtros de suavização, como o desfoque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blur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A função cv2.GaussianBlur() é útil para isso.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Aplicando um filtro de desfoque gaussiano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imagem_blur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cv2.GaussianBlur(imagem, (15, 15), 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Exibir a imagem com o filtro aplicado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cv2.imshow('Imagem com Desfoque',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imagem_blur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10. Detectando Contornos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sng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detecção de contornos pode ser feita com a função cv2.findContours() e é útil para detectar objetos ou formas em uma imagem.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Detectar contornos na imagem em preto e branco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contornos, hierarquia = cv2.findContours(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imagem_gray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cv2.RETR_EXTERNAL, cv2.CHAIN_APPROX_SIMPLE)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Desenhando os contornos na imagem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imagem_contornos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cv2.drawContours(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imagem.copy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(), contornos, -1, (0, 255, 0), 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Exibir a imagem com contornos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cv2.imshow('Contornos',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imagem_contornos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87092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391DF9D-6C96-DF70-7E0F-1F296BFD2EE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05589" y="589617"/>
            <a:ext cx="10788315" cy="6268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pt-BR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11. Operações de Morfologia (Erosão e Dilatação)</a:t>
            </a:r>
          </a:p>
          <a:p>
            <a:pPr marL="0" indent="0"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Operações morfológicas são frequentemente usadas em processamento de imagens binárias. A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erosão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dilatação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são duas operações básicas.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Erosão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Remove pixels das bordas das regiões brancas de uma imagem binária.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Dilatação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Adiciona pixels ao redor das bordas das regiões brancas.</a:t>
            </a:r>
          </a:p>
          <a:p>
            <a:pPr marL="0" indent="0"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Erosão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kernel = cv2.getStructuringElement(cv2.MORPH_RECT, (5, 5))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imagem_erosao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cv2.erode(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imagem_gray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kernel,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iterations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Dilatação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imagem_dilatacao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cv2.dilate(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imagem_gray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kernel,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iterations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Exibir a imagem após erosão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cv2.imshow('Imagem após Erosão',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imagem_erosao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Exibir a imagem após dilatação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cv2.imshow('Imagem após Dilatação', 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imagem_dilatacao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cv2.waitKey(0)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90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F262B3C-AD76-B7B6-D740-F2FCBF4C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93376"/>
            <a:ext cx="10511627" cy="707358"/>
          </a:xfrm>
        </p:spPr>
        <p:txBody>
          <a:bodyPr/>
          <a:lstStyle/>
          <a:p>
            <a:r>
              <a:rPr lang="pt-BR" dirty="0"/>
              <a:t>Reconhecimento facial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93AE2CD-7C05-E977-359C-95201BB75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06" y="1732547"/>
            <a:ext cx="10776322" cy="4532077"/>
          </a:xfrm>
        </p:spPr>
        <p:txBody>
          <a:bodyPr>
            <a:normAutofit/>
          </a:bodyPr>
          <a:lstStyle/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é uma biblioteca Python bastante popular e eficiente para reconhecimento facial. Ela é baseada em técnicas de aprendizado de máquina e visão computacional para identificar e verificar faces humanas em imagens e vídeos.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é construída sobre a biblioteca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Dlib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que oferece algoritmos de aprendizado de máquina otimizados para reconhecimento facial. Ela utiliza redes neurais profundas para detectar faces e extrair características faciais.</a:t>
            </a:r>
          </a:p>
        </p:txBody>
      </p:sp>
    </p:spTree>
    <p:extLst>
      <p:ext uri="{BB962C8B-B14F-4D97-AF65-F5344CB8AC3E}">
        <p14:creationId xmlns:p14="http://schemas.microsoft.com/office/powerpoint/2010/main" val="2313908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9B1AD-AC4E-D612-33A8-DA313A1F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948"/>
            <a:ext cx="11285621" cy="571000"/>
          </a:xfrm>
        </p:spPr>
        <p:txBody>
          <a:bodyPr/>
          <a:lstStyle/>
          <a:p>
            <a:r>
              <a:rPr lang="pt-BR" dirty="0"/>
              <a:t>Principais Funcionalidades: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2836C2-C355-710E-131C-456924F4E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6018" y="1478784"/>
            <a:ext cx="10511627" cy="52348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Detecção de Faces: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é capaz de detectar rostos em uma imagem ou em um vídeo. Ela encontra as posições das faces (como a localização de olhos, nariz e boca) e as delimita com uma caixa delimitadora.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Reconhecimento de Faces: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Além de detectar faces, a biblioteca pode "reconhecer" se uma face corresponde a uma pessoa específica. Para isso, ela cria uma representação vetorial 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) única para cada face e pode compará-las.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Comparação de Faces: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biblioteca oferece a capacidade de comparar duas faces e verificar se elas pertencem à mesma pessoa ou não. A comparação é feita com base em medidas de similaridade entre os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faciais.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Reconhecimento em Vídeos: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biblioteca também pode ser aplicada em vídeos, detectando e reconhecendo rostos em tempo real, ou em vídeos gravados, quadro a quadro.</a:t>
            </a:r>
          </a:p>
        </p:txBody>
      </p:sp>
    </p:spTree>
    <p:extLst>
      <p:ext uri="{BB962C8B-B14F-4D97-AF65-F5344CB8AC3E}">
        <p14:creationId xmlns:p14="http://schemas.microsoft.com/office/powerpoint/2010/main" val="23416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15B9-732B-88F2-A41F-6E780315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93033"/>
            <a:ext cx="10511627" cy="625642"/>
          </a:xfrm>
        </p:spPr>
        <p:txBody>
          <a:bodyPr/>
          <a:lstStyle/>
          <a:p>
            <a:r>
              <a:rPr lang="pt-BR" dirty="0"/>
              <a:t>Principais Funções da Biblioteca: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947B4C-FD56-415D-C768-C49C33638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211180"/>
            <a:ext cx="10511627" cy="564682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face_recognition.load_image_file</a:t>
            </a:r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Carrega uma imagem do arquivo.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Detecta a localização das faces em uma imagem. Retorna uma lista de coordenadas das caixas delimitadoras de cada rosto encontrado.</a:t>
            </a:r>
          </a:p>
          <a:p>
            <a:pPr algn="just"/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Gera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faciais (vetores numéricos) para cada face detectada. Esses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podem ser usados para comparar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faces.face_recognition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compare_faces</a:t>
            </a:r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Compara duas ou mais faces, retornando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se as faces forem da mesma pessoa e False caso contrário.</a:t>
            </a:r>
          </a:p>
          <a:p>
            <a:pPr algn="just"/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face_recognition.face_distance</a:t>
            </a:r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Calcula a distância entre dois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faciais. Quanto menor a distância, maior a similaridade entre as faces.</a:t>
            </a:r>
          </a:p>
          <a:p>
            <a:pPr algn="just"/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face_recognition.face_landmarks</a:t>
            </a:r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Detecta marcos faciais, como a posição dos olhos, sobrancelhas, nariz, boca, etc.</a:t>
            </a:r>
          </a:p>
        </p:txBody>
      </p:sp>
    </p:spTree>
    <p:extLst>
      <p:ext uri="{BB962C8B-B14F-4D97-AF65-F5344CB8AC3E}">
        <p14:creationId xmlns:p14="http://schemas.microsoft.com/office/powerpoint/2010/main" val="2840787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B2DDDD-717E-B84E-956A-B2D0B0B45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316067"/>
            <a:ext cx="6801853" cy="3948557"/>
          </a:xfrm>
        </p:spPr>
        <p:txBody>
          <a:bodyPr>
            <a:normAutofit/>
          </a:bodyPr>
          <a:lstStyle/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Dlib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é uma biblioteca poderosa e amplamente utilizada no campo da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visão computacional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aprendizado de máquina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desenvolvida por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Davis E. King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Ela é escrita em C++ e oferece interfaces em Python, facilitando a integração com outros sistemas. 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Dlib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se destaca por sua alta performance, flexibilidade e facilidade de uso para uma ampla gama de tarefas, como detecção de objetos, reconhecimento facial, classificação e regressão, e aprendizado profundo.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384F73-BFD0-6422-BC29-788620AE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50" y="2466976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lib - Wikipedia">
            <a:extLst>
              <a:ext uri="{FF2B5EF4-FFF2-40B4-BE49-F238E27FC236}">
                <a16:creationId xmlns:a16="http://schemas.microsoft.com/office/drawing/2014/main" id="{24BBAD35-DEFC-886C-8E13-3BD905E2B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2" y="702593"/>
            <a:ext cx="18954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CB8CCEF-B893-910B-E8E6-19AD4675E040}"/>
              </a:ext>
            </a:extLst>
          </p:cNvPr>
          <p:cNvSpPr txBox="1"/>
          <p:nvPr/>
        </p:nvSpPr>
        <p:spPr>
          <a:xfrm>
            <a:off x="8771522" y="5796897"/>
            <a:ext cx="1678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Davis E. King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1002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649A449-C875-8631-8167-390C0ACFB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52914"/>
              </p:ext>
            </p:extLst>
          </p:nvPr>
        </p:nvGraphicFramePr>
        <p:xfrm>
          <a:off x="1102894" y="898358"/>
          <a:ext cx="9986209" cy="5827645"/>
        </p:xfrm>
        <a:graphic>
          <a:graphicData uri="http://schemas.openxmlformats.org/drawingml/2006/table">
            <a:tbl>
              <a:tblPr/>
              <a:tblGrid>
                <a:gridCol w="2550695">
                  <a:extLst>
                    <a:ext uri="{9D8B030D-6E8A-4147-A177-3AD203B41FA5}">
                      <a16:colId xmlns:a16="http://schemas.microsoft.com/office/drawing/2014/main" val="494258504"/>
                    </a:ext>
                  </a:extLst>
                </a:gridCol>
                <a:gridCol w="3697704">
                  <a:extLst>
                    <a:ext uri="{9D8B030D-6E8A-4147-A177-3AD203B41FA5}">
                      <a16:colId xmlns:a16="http://schemas.microsoft.com/office/drawing/2014/main" val="549939928"/>
                    </a:ext>
                  </a:extLst>
                </a:gridCol>
                <a:gridCol w="3737810">
                  <a:extLst>
                    <a:ext uri="{9D8B030D-6E8A-4147-A177-3AD203B41FA5}">
                      <a16:colId xmlns:a16="http://schemas.microsoft.com/office/drawing/2014/main" val="1576123552"/>
                    </a:ext>
                  </a:extLst>
                </a:gridCol>
              </a:tblGrid>
              <a:tr h="228084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Característica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Dlib</a:t>
                      </a:r>
                      <a:endParaRPr lang="pt-BR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MediaPipe</a:t>
                      </a:r>
                      <a:r>
                        <a:rPr lang="pt-BR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Face </a:t>
                      </a:r>
                      <a:r>
                        <a:rPr lang="pt-BR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Mesh</a:t>
                      </a:r>
                      <a:endParaRPr lang="pt-BR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918066"/>
                  </a:ext>
                </a:extLst>
              </a:tr>
              <a:tr h="741272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 Principal</a:t>
                      </a:r>
                      <a:endParaRPr lang="pt-B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Visão computacional geral (detecção de rostos, reconhecimento, rastreamento, etc.)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Focado em detecção detalhada de pontos de referência faciais em 3D (468 pontos)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13622"/>
                  </a:ext>
                </a:extLst>
              </a:tr>
              <a:tr h="399146">
                <a:tc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Pontos de Referência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 pontos de referência 2D (em faces frontais)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468 pontos de referência 3D (malha facial)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638372"/>
                  </a:ext>
                </a:extLst>
              </a:tr>
              <a:tr h="399146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Modelo de Detecção</a:t>
                      </a:r>
                      <a:endParaRPr lang="pt-B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HOG (Histograma de Gradientes Orientados), CNN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Rede Neural (técnicas de aprendizado profundo)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56525"/>
                  </a:ext>
                </a:extLst>
              </a:tr>
              <a:tr h="399146">
                <a:tc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Precisão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 precisão em rostos em 2D; bom para </a:t>
                      </a:r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faces frontais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Muito preciso para </a:t>
                      </a:r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faces em 3D</a:t>
                      </a:r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 </a:t>
                      </a:r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orientações variadas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04070"/>
                  </a:ext>
                </a:extLst>
              </a:tr>
              <a:tr h="570209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Execução em Tempo Real</a:t>
                      </a:r>
                      <a:endParaRPr lang="pt-B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Sim, mas pode ser mais lento em alguns casos (principalmente com CNNs)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Extremamente otimizado para tempo real</a:t>
                      </a:r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(funciona bem até em dispositivos móveis)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246376"/>
                  </a:ext>
                </a:extLst>
              </a:tr>
              <a:tr h="399146">
                <a:tc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Suporte a 3D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tem suporte explícito para 3D, é 2D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Suporta modelagem de faces em 3D com 468 pontos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281339"/>
                  </a:ext>
                </a:extLst>
              </a:tr>
              <a:tr h="570209">
                <a:tc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Capacidade de Processamento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Pode ser mais pesado dependendo do modelo (principalmente em dispositivos móveis)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Altamente otimizado para dispositivos móveis e sistemas com recursos limitados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500737"/>
                  </a:ext>
                </a:extLst>
              </a:tr>
              <a:tr h="741272">
                <a:tc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Facilidade de Uso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simples e bem documentada, mas pode ser difícil de configurar em alguns sistemas (instalação de dependências)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simples e otimizada para integração em tempo real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315383"/>
                  </a:ext>
                </a:extLst>
              </a:tr>
              <a:tr h="741272">
                <a:tc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Aplicações Principais</a:t>
                      </a:r>
                      <a:endParaRPr lang="pt-B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Reconhecimento facial</a:t>
                      </a:r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rastreamento de objetos, análise de características faciais, segurança, autenticação biométrica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Realidade aumentada, criação de filtros faciais, animação facial, análise de emoções, interações em tempo real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087274"/>
                  </a:ext>
                </a:extLst>
              </a:tr>
              <a:tr h="570209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Integração Multimodal</a:t>
                      </a:r>
                      <a:endParaRPr lang="pt-B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Focado em uma tarefa única (principalmente rosto ou objetos)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Suporte multimodal (</a:t>
                      </a:r>
                      <a:r>
                        <a:rPr lang="pt-B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</a:t>
                      </a:r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mãos, rosto, corpo, objetos) em um único pipeline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74065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04D87CF-1BFF-E50D-3DC0-30FEEA3AD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051" y="406252"/>
            <a:ext cx="7127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Principais Diferenças entre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Dlib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(Face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Mesh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6678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0F23C-6FDD-E144-C7D6-289FD2DD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66853"/>
            <a:ext cx="10511627" cy="633664"/>
          </a:xfrm>
        </p:spPr>
        <p:txBody>
          <a:bodyPr/>
          <a:lstStyle/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pinckle</a:t>
            </a:r>
            <a:endParaRPr lang="pt-BR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9D643C6-128E-D6CA-94CE-A5071581F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86" y="1472346"/>
            <a:ext cx="105116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módulo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pickle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Python é uma biblioteca padrão que oferece uma maneira simples e eficiente de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serializar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desserializar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objetos Python.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0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serialização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é o processo de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converter um objeto Python em uma sequência de bytes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(que pode ser gravada em um arquivo, enviada através de uma rede ou armazenada em algum lugar).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000" dirty="0">
              <a:solidFill>
                <a:srgbClr val="202C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desserialização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é o processo inverso, ou seja,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converter os bytes de volta no objeto Python original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05492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DA1B63-795F-60FE-8EE3-C6717E612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259305"/>
            <a:ext cx="10511627" cy="5500687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pickle.load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(file)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Desserializa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um objeto a partir de um arquivo, ou seja, lê a representação binária e reconstrói o objeto Python original.</a:t>
            </a:r>
          </a:p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Parâmetros:</a:t>
            </a:r>
          </a:p>
          <a:p>
            <a:pPr lvl="1"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file: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Um objeto de arquivo aberto em modo binário 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para leitura).</a:t>
            </a:r>
          </a:p>
          <a:p>
            <a:pPr marL="0" indent="0" algn="just">
              <a:buNone/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pickle.dump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obj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, file,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Serializa o objeto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obj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 grava sua representação binária no arquivo file.</a:t>
            </a:r>
          </a:p>
          <a:p>
            <a:pPr algn="just"/>
            <a:r>
              <a:rPr lang="pt-B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Parâmetros:</a:t>
            </a:r>
          </a:p>
          <a:p>
            <a:pPr lvl="1" algn="just"/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obj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objeto Python a ser serializado.</a:t>
            </a:r>
          </a:p>
          <a:p>
            <a:pPr lvl="1"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file: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Um objeto de arquivo aberto em modo binário 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wb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para gravação).</a:t>
            </a:r>
          </a:p>
          <a:p>
            <a:pPr lvl="1" algn="just"/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(opcional):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protocolo de serialização a ser usado. Pode ser um valor entre 0 (o mais antigo) e 5 (o mais recente). O padrão é o protocolo mais recente compatível com o Python.</a:t>
            </a:r>
          </a:p>
          <a:p>
            <a:pPr lvl="1"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ABE4A45-C957-69AB-6F78-48C8E16C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76111"/>
            <a:ext cx="10511627" cy="633664"/>
          </a:xfrm>
        </p:spPr>
        <p:txBody>
          <a:bodyPr/>
          <a:lstStyle/>
          <a:p>
            <a:r>
              <a:rPr lang="pt-BR" dirty="0"/>
              <a:t>Principais funções do </a:t>
            </a:r>
            <a:r>
              <a:rPr lang="pt-BR" dirty="0" err="1"/>
              <a:t>pickle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8295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B690D-143D-DBEB-6847-A6A87E24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5444449"/>
            <a:ext cx="10511627" cy="1012785"/>
          </a:xfrm>
        </p:spPr>
        <p:txBody>
          <a:bodyPr/>
          <a:lstStyle/>
          <a:p>
            <a:r>
              <a:rPr lang="pt-BR" dirty="0"/>
              <a:t>Fluxograma textual</a:t>
            </a:r>
            <a:br>
              <a:rPr lang="pt-BR" dirty="0"/>
            </a:br>
            <a:r>
              <a:rPr lang="pt-BR" dirty="0"/>
              <a:t>captura &amp; reconhecimento facial</a:t>
            </a:r>
            <a:br>
              <a:rPr lang="pt-BR" dirty="0"/>
            </a:br>
            <a:br>
              <a:rPr lang="pt-BR" dirty="0"/>
            </a:br>
            <a:r>
              <a:rPr lang="pt-BR" dirty="0"/>
              <a:t>fluxograma textual x programa detalhado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programa da captura de face </a:t>
            </a:r>
            <a:br>
              <a:rPr lang="pt-BR" dirty="0"/>
            </a:br>
            <a:r>
              <a:rPr lang="pt-BR" dirty="0"/>
              <a:t>&amp;</a:t>
            </a:r>
            <a:br>
              <a:rPr lang="pt-BR" dirty="0"/>
            </a:br>
            <a:r>
              <a:rPr lang="pt-BR" dirty="0"/>
              <a:t>programa para reconhecimento facial</a:t>
            </a:r>
          </a:p>
        </p:txBody>
      </p:sp>
    </p:spTree>
    <p:extLst>
      <p:ext uri="{BB962C8B-B14F-4D97-AF65-F5344CB8AC3E}">
        <p14:creationId xmlns:p14="http://schemas.microsoft.com/office/powerpoint/2010/main" val="4130590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D621C3E5-0207-75B6-119F-0744C5C09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62" y="-33487"/>
            <a:ext cx="11324492" cy="69249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Fluxograma Textual – PROGRAMA PARA CAPTURA DE 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Início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Inicializar a câmera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Iniciar a captura de vídeo com cv2.VideoCapture(0).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mensagem para o usuário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Exibir a mensagem "Posicione-se na frente da câmera. Pressione 'c' para capturar seu rosto."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 principal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Começar um loop contínuo de captura de frames da câmera.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um frame da câmera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Capturar um frame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a imagem capturada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Mostrar a imagem no visor com cv2.imshow("Cadastro - Pressione 'c' para capturar", frame).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Aguardar a tecla 'c' ser pressionada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Verificar se a tecla 'c' foi pressionada (com cv2.waitKey(1) &amp; 0xFF ==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('c')).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não pressionado 'c'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retornar ao passo 5 (capturar o próximo frame).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Detectar rostos na imagem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Usar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(frame) para detectar as localizações das faces no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Verificar se foi detectado pelo menos um rosto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nenhum rosto encontrado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Exibir mensagem "Nenhum rosto encontrado. Tente novamente."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Voltar ao passo 5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rosto(s) encontrado(s)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Continuar para o próximo passo.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as características do rosto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Usar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para capturar as características do rosto detectado.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Salvar as características faciais em arquivo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Salvar o primeiro rosto encontrado no arquivo "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usando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pickle.dump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[0], file).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mensagem de sucesso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Imprimir "Cadastro realizado com sucesso!" no console.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3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Finalizar o loop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Quebrar o loop com break.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4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Liberar recursos da câmera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Liberar a câmera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5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Fechar a janela do </a:t>
            </a:r>
            <a:r>
              <a:rPr kumimoji="0" lang="pt-BR" altLang="pt-B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Fechar todas as janelas abertas com cv2.destroyAllWindows().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6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560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7A01BA2-2668-214C-07CB-C17886FCA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727" y="425616"/>
            <a:ext cx="6510214" cy="35394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Início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pt-BR" alt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t-BR" altLang="pt-B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pt-BR" alt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Inicializar a câmera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Iniciar a captura de vídeo com cv2.VideoCapture(0).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mensagem para o usuário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FF33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Exibir a mensagem "Posicione-se na frente da câmera. Pressione 'c' para capturar seu rosto.“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886A06-DF17-E2D3-337E-40D661809D62}"/>
              </a:ext>
            </a:extLst>
          </p:cNvPr>
          <p:cNvSpPr txBox="1"/>
          <p:nvPr/>
        </p:nvSpPr>
        <p:spPr>
          <a:xfrm>
            <a:off x="6807201" y="434713"/>
            <a:ext cx="5384797" cy="33239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endParaRPr lang="pt-BR" sz="1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cv2</a:t>
            </a:r>
          </a:p>
          <a:p>
            <a:r>
              <a:rPr lang="pt-BR" sz="1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pickle</a:t>
            </a:r>
            <a:endParaRPr lang="pt-BR" sz="1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# Inicializar a câmera</a:t>
            </a:r>
          </a:p>
          <a:p>
            <a:r>
              <a:rPr lang="pt-BR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video_capture</a:t>
            </a:r>
            <a:r>
              <a:rPr lang="pt-B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cv2.VideoCapture(0)</a:t>
            </a: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b="1" dirty="0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print("Posicione-se na frente da câmera. Pressione 'c' para capturar seu rosto.")</a:t>
            </a:r>
          </a:p>
          <a:p>
            <a:endParaRPr lang="pt-BR" sz="1400" b="1" dirty="0">
              <a:solidFill>
                <a:srgbClr val="FF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 b="1" dirty="0">
              <a:solidFill>
                <a:srgbClr val="FF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 b="1" dirty="0">
              <a:solidFill>
                <a:srgbClr val="FF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 b="1" dirty="0">
              <a:solidFill>
                <a:srgbClr val="FF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 b="1" dirty="0">
              <a:solidFill>
                <a:srgbClr val="FF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E753CA2-4445-2610-A971-9967BA67FC0F}"/>
              </a:ext>
            </a:extLst>
          </p:cNvPr>
          <p:cNvCxnSpPr>
            <a:cxnSpLocks/>
          </p:cNvCxnSpPr>
          <p:nvPr/>
        </p:nvCxnSpPr>
        <p:spPr>
          <a:xfrm>
            <a:off x="768485" y="609558"/>
            <a:ext cx="603871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A2A95A1-607D-C0DA-D1DF-2BA5DA8E9CBB}"/>
              </a:ext>
            </a:extLst>
          </p:cNvPr>
          <p:cNvCxnSpPr>
            <a:cxnSpLocks/>
          </p:cNvCxnSpPr>
          <p:nvPr/>
        </p:nvCxnSpPr>
        <p:spPr>
          <a:xfrm>
            <a:off x="1984443" y="1676358"/>
            <a:ext cx="48227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3C4ED286-F2D5-F945-20FE-356E8CF96014}"/>
              </a:ext>
            </a:extLst>
          </p:cNvPr>
          <p:cNvCxnSpPr>
            <a:cxnSpLocks/>
          </p:cNvCxnSpPr>
          <p:nvPr/>
        </p:nvCxnSpPr>
        <p:spPr>
          <a:xfrm>
            <a:off x="3083668" y="2313311"/>
            <a:ext cx="3723534" cy="0"/>
          </a:xfrm>
          <a:prstGeom prst="straightConnector1">
            <a:avLst/>
          </a:prstGeom>
          <a:ln w="28575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CBC1AD58-18A8-E0DF-F329-6E2BDC66834D}"/>
              </a:ext>
            </a:extLst>
          </p:cNvPr>
          <p:cNvSpPr txBox="1"/>
          <p:nvPr/>
        </p:nvSpPr>
        <p:spPr>
          <a:xfrm>
            <a:off x="3058679" y="36693"/>
            <a:ext cx="6883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Detalhamento do código em função do fluxograma textual</a:t>
            </a:r>
          </a:p>
        </p:txBody>
      </p:sp>
    </p:spTree>
    <p:extLst>
      <p:ext uri="{BB962C8B-B14F-4D97-AF65-F5344CB8AC3E}">
        <p14:creationId xmlns:p14="http://schemas.microsoft.com/office/powerpoint/2010/main" val="3019133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704BF99-DEB9-2878-7900-8104F6490027}"/>
              </a:ext>
            </a:extLst>
          </p:cNvPr>
          <p:cNvSpPr txBox="1"/>
          <p:nvPr/>
        </p:nvSpPr>
        <p:spPr>
          <a:xfrm>
            <a:off x="-15631" y="-1912"/>
            <a:ext cx="5759939" cy="67403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 principal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Começar um loop contínuo de captura de frames da câmera.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um frame da câmera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Capturar um frame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a imagem capturada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Mostrar a imagem no visor com cv2.imshow("Cadastro - Pressione 'c' para capturar", frame).</a:t>
            </a: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Aguardar a tecla 'c' ser pressionada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Verificar se a tecla 'c' foi pressionada (com cv2.waitKey(1) &amp; 0xFF ==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('c')).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não pressionado 'c'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retornar ao passo 5 (capturar o próximo frame).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99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Detectar rostos na imagem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Usar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(frame) para detectar as localizações das faces no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Verificar se foi detectado pelo menos um rosto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nenhum rosto encontrado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Exibir mensagem "Nenhum rosto encontrado. Tente novamente."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Voltar ao passo 5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rosto(s) encontrado(s)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Continuar para o próximo passo.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as características do rosto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Usar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para capturar as características do rosto detectado.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Salvar as características faciais em arquivo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Salvar o primeiro rosto encontrado no arquivo "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usando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pickle.dump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[0], file).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mensagem de sucesso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Imprimir "Cadastro realizado com sucesso!" no console.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3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Finalizar o loop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Quebrar o loop com break.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4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Liberar recursos da câmera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FF33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Liberar a câmera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5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Fechar a janela do </a:t>
            </a:r>
            <a:r>
              <a:rPr kumimoji="0" lang="pt-BR" altLang="pt-BR" sz="1200" b="1" i="0" u="none" strike="noStrike" cap="none" normalizeH="0" baseline="0" dirty="0" err="1">
                <a:ln>
                  <a:noFill/>
                </a:ln>
                <a:solidFill>
                  <a:srgbClr val="CC33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CC33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Fechar todas as janelas abertas com cv2.destroyAllWindows().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320F7A4-9639-7A9C-2BFF-F371EC5C7352}"/>
              </a:ext>
            </a:extLst>
          </p:cNvPr>
          <p:cNvSpPr txBox="1"/>
          <p:nvPr/>
        </p:nvSpPr>
        <p:spPr>
          <a:xfrm>
            <a:off x="5744309" y="-1912"/>
            <a:ext cx="6447691" cy="65556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captura = </a:t>
            </a:r>
            <a:r>
              <a:rPr lang="pt-BR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pt-BR" sz="12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cv2.imshow("Cadastro - Pressione 'c' para capturar", captura)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# Pressionar 'c' para capturar a imagem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cv2.waitKey(1) &amp; 0xFF ==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('c’):</a:t>
            </a:r>
          </a:p>
          <a:p>
            <a:endParaRPr lang="pt-BR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200" b="1" dirty="0" err="1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b="1" dirty="0" err="1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lang="pt-BR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(frame)</a:t>
            </a:r>
          </a:p>
          <a:p>
            <a:endParaRPr lang="pt-BR" sz="1200" b="1" dirty="0">
              <a:solidFill>
                <a:srgbClr val="FF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rgbClr val="FF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&gt; 0:</a:t>
            </a:r>
          </a:p>
          <a:p>
            <a:endParaRPr lang="pt-BR" sz="1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# Capturar as características do rosto</a:t>
            </a:r>
          </a:p>
          <a:p>
            <a:r>
              <a:rPr lang="pt-BR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lang="pt-BR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lang="pt-BR" sz="1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pt-BR" sz="1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open("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wb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 as file:</a:t>
            </a:r>
          </a:p>
          <a:p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pickle.dump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[0], file)  # </a:t>
            </a:r>
            <a:r>
              <a:rPr lang="pt-BR" sz="105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Salva apenas o primeiro rosto encontrado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print("Cadastro realizado com sucesso!")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</a:p>
          <a:p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sz="1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1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print("Nenhum rosto encontrado. Tente novamente.")</a:t>
            </a:r>
          </a:p>
          <a:p>
            <a:r>
              <a:rPr lang="pt-BR" sz="1200" b="1" dirty="0" err="1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lang="pt-BR" sz="1200" b="1" dirty="0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53E3AFD-58B7-CF83-97BC-E703B8AE8AD9}"/>
              </a:ext>
            </a:extLst>
          </p:cNvPr>
          <p:cNvCxnSpPr/>
          <p:nvPr/>
        </p:nvCxnSpPr>
        <p:spPr>
          <a:xfrm>
            <a:off x="1320800" y="150865"/>
            <a:ext cx="442350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C334477-A644-A364-EA16-B82926CA890B}"/>
              </a:ext>
            </a:extLst>
          </p:cNvPr>
          <p:cNvCxnSpPr>
            <a:cxnSpLocks/>
          </p:cNvCxnSpPr>
          <p:nvPr/>
        </p:nvCxnSpPr>
        <p:spPr>
          <a:xfrm>
            <a:off x="2422769" y="514281"/>
            <a:ext cx="3321539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A5AEAE39-DCB4-DD30-7135-1E79E255CFFC}"/>
              </a:ext>
            </a:extLst>
          </p:cNvPr>
          <p:cNvCxnSpPr>
            <a:cxnSpLocks/>
          </p:cNvCxnSpPr>
          <p:nvPr/>
        </p:nvCxnSpPr>
        <p:spPr>
          <a:xfrm>
            <a:off x="2215660" y="877697"/>
            <a:ext cx="3528648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FC7F7DFF-C699-C4F0-6E99-83E7C7754575}"/>
              </a:ext>
            </a:extLst>
          </p:cNvPr>
          <p:cNvCxnSpPr>
            <a:cxnSpLocks/>
          </p:cNvCxnSpPr>
          <p:nvPr/>
        </p:nvCxnSpPr>
        <p:spPr>
          <a:xfrm>
            <a:off x="2860429" y="1428681"/>
            <a:ext cx="2883883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54E9443-55D1-51BF-2AFC-CD8D01275F2D}"/>
              </a:ext>
            </a:extLst>
          </p:cNvPr>
          <p:cNvCxnSpPr>
            <a:cxnSpLocks/>
          </p:cNvCxnSpPr>
          <p:nvPr/>
        </p:nvCxnSpPr>
        <p:spPr>
          <a:xfrm>
            <a:off x="2215660" y="2159419"/>
            <a:ext cx="3598986" cy="0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5B67955-BDD4-40E3-D6E2-48578299F384}"/>
              </a:ext>
            </a:extLst>
          </p:cNvPr>
          <p:cNvCxnSpPr>
            <a:cxnSpLocks/>
          </p:cNvCxnSpPr>
          <p:nvPr/>
        </p:nvCxnSpPr>
        <p:spPr>
          <a:xfrm>
            <a:off x="3610706" y="2718219"/>
            <a:ext cx="2203940" cy="0"/>
          </a:xfrm>
          <a:prstGeom prst="straightConnector1">
            <a:avLst/>
          </a:prstGeom>
          <a:ln w="28575">
            <a:solidFill>
              <a:srgbClr val="CC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C76E4A0-CB12-F7B7-4356-8732061BB394}"/>
              </a:ext>
            </a:extLst>
          </p:cNvPr>
          <p:cNvCxnSpPr>
            <a:cxnSpLocks/>
          </p:cNvCxnSpPr>
          <p:nvPr/>
        </p:nvCxnSpPr>
        <p:spPr>
          <a:xfrm>
            <a:off x="2950306" y="3988219"/>
            <a:ext cx="3036279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CD4098D8-2CD0-2489-6E5F-B9238E77370B}"/>
              </a:ext>
            </a:extLst>
          </p:cNvPr>
          <p:cNvCxnSpPr>
            <a:cxnSpLocks/>
          </p:cNvCxnSpPr>
          <p:nvPr/>
        </p:nvCxnSpPr>
        <p:spPr>
          <a:xfrm>
            <a:off x="3477845" y="4531389"/>
            <a:ext cx="250874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A0583A9-6BF3-0F26-9403-28712DA8898B}"/>
              </a:ext>
            </a:extLst>
          </p:cNvPr>
          <p:cNvCxnSpPr>
            <a:cxnSpLocks/>
          </p:cNvCxnSpPr>
          <p:nvPr/>
        </p:nvCxnSpPr>
        <p:spPr>
          <a:xfrm>
            <a:off x="2497014" y="5098005"/>
            <a:ext cx="3489571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61639236-BD47-D0D8-7D19-0BB6532BB89E}"/>
              </a:ext>
            </a:extLst>
          </p:cNvPr>
          <p:cNvCxnSpPr>
            <a:cxnSpLocks/>
          </p:cNvCxnSpPr>
          <p:nvPr/>
        </p:nvCxnSpPr>
        <p:spPr>
          <a:xfrm>
            <a:off x="1453659" y="5445790"/>
            <a:ext cx="4532926" cy="0"/>
          </a:xfrm>
          <a:prstGeom prst="straightConnector1">
            <a:avLst/>
          </a:prstGeom>
          <a:ln w="28575">
            <a:solidFill>
              <a:srgbClr val="202C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447FB9FA-3D53-CE3C-4DC0-C5B5E277D612}"/>
              </a:ext>
            </a:extLst>
          </p:cNvPr>
          <p:cNvCxnSpPr>
            <a:cxnSpLocks/>
          </p:cNvCxnSpPr>
          <p:nvPr/>
        </p:nvCxnSpPr>
        <p:spPr>
          <a:xfrm>
            <a:off x="2375876" y="5996775"/>
            <a:ext cx="3368433" cy="0"/>
          </a:xfrm>
          <a:prstGeom prst="straightConnector1">
            <a:avLst/>
          </a:prstGeom>
          <a:ln w="28575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DE05FC94-1111-1C31-A9DA-D7D2C1D5D4E6}"/>
              </a:ext>
            </a:extLst>
          </p:cNvPr>
          <p:cNvCxnSpPr>
            <a:cxnSpLocks/>
          </p:cNvCxnSpPr>
          <p:nvPr/>
        </p:nvCxnSpPr>
        <p:spPr>
          <a:xfrm>
            <a:off x="2375879" y="6352375"/>
            <a:ext cx="3368433" cy="0"/>
          </a:xfrm>
          <a:prstGeom prst="straightConnector1">
            <a:avLst/>
          </a:prstGeom>
          <a:ln w="28575">
            <a:solidFill>
              <a:srgbClr val="CC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F39579B9-D095-0C7F-BF72-C2EE33F815F9}"/>
              </a:ext>
            </a:extLst>
          </p:cNvPr>
          <p:cNvGrpSpPr/>
          <p:nvPr/>
        </p:nvGrpSpPr>
        <p:grpSpPr>
          <a:xfrm>
            <a:off x="5040924" y="3079263"/>
            <a:ext cx="945662" cy="2563444"/>
            <a:chOff x="5040923" y="3079263"/>
            <a:chExt cx="1055075" cy="2563444"/>
          </a:xfrm>
        </p:grpSpPr>
        <p:cxnSp>
          <p:nvCxnSpPr>
            <p:cNvPr id="33" name="Conector: Angulado 32">
              <a:extLst>
                <a:ext uri="{FF2B5EF4-FFF2-40B4-BE49-F238E27FC236}">
                  <a16:creationId xmlns:a16="http://schemas.microsoft.com/office/drawing/2014/main" id="{A31F2DA3-95C0-5BFC-2DBC-EC8F8F59448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638433" y="4185142"/>
              <a:ext cx="2563443" cy="351687"/>
            </a:xfrm>
            <a:prstGeom prst="bentConnector3">
              <a:avLst>
                <a:gd name="adj1" fmla="val 100000"/>
              </a:avLst>
            </a:prstGeom>
            <a:ln w="28575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DFE30D26-D92B-40C3-6C33-5FC7B1C2521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23" y="3079263"/>
              <a:ext cx="703385" cy="0"/>
            </a:xfrm>
            <a:prstGeom prst="line">
              <a:avLst/>
            </a:prstGeom>
            <a:ln w="28575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65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3947C6C-2AB6-236E-85BC-CE84040CEE38}"/>
              </a:ext>
            </a:extLst>
          </p:cNvPr>
          <p:cNvSpPr txBox="1"/>
          <p:nvPr/>
        </p:nvSpPr>
        <p:spPr>
          <a:xfrm>
            <a:off x="505326" y="388341"/>
            <a:ext cx="11181347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cv2</a:t>
            </a:r>
          </a:p>
          <a:p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pickle</a:t>
            </a:r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# Inicializar a câmera</a:t>
            </a:r>
          </a:p>
          <a:p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video_capture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= cv2.VideoCapture(0)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print("Posicione-se na frente da câmera. Pressione 'c' para capturar seu rosto.")</a:t>
            </a:r>
          </a:p>
          <a:p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, frame =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cv2.imshow("Cadastro - Pressione 'c' para capturar", frame)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# Pressionar 'c' para capturar a imagem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cv2.waitKey(1) &amp; 0xFF ==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('c’):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(frame)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) &gt; 0: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    # Capturar as características do rosto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open("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wb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") as file: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pickle.dump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[0], file)  # Salva apenas o primeiro rosto encontrado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    print("Cadastro realizado com sucesso!")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    break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           print("Nenhum rosto encontrado. Tente novamente.")</a:t>
            </a:r>
          </a:p>
          <a:p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F21681A-872B-E0A4-893D-0DE1153EC2E5}"/>
              </a:ext>
            </a:extLst>
          </p:cNvPr>
          <p:cNvSpPr txBox="1"/>
          <p:nvPr/>
        </p:nvSpPr>
        <p:spPr>
          <a:xfrm>
            <a:off x="1923222" y="16296"/>
            <a:ext cx="8345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Código para realizar o cadastro de uma face (igual ao código detalhado)</a:t>
            </a:r>
          </a:p>
        </p:txBody>
      </p:sp>
    </p:spTree>
    <p:extLst>
      <p:ext uri="{BB962C8B-B14F-4D97-AF65-F5344CB8AC3E}">
        <p14:creationId xmlns:p14="http://schemas.microsoft.com/office/powerpoint/2010/main" val="2737512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7CB89-6951-4F4F-A322-74512C164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38" y="450503"/>
            <a:ext cx="11447721" cy="1012785"/>
          </a:xfrm>
        </p:spPr>
        <p:txBody>
          <a:bodyPr/>
          <a:lstStyle/>
          <a:p>
            <a:r>
              <a:rPr lang="pt-BR" sz="3400" dirty="0">
                <a:solidFill>
                  <a:srgbClr val="FF0000"/>
                </a:solidFill>
              </a:rPr>
              <a:t>Atenção: </a:t>
            </a:r>
            <a:r>
              <a:rPr lang="pt-BR" sz="3400" dirty="0"/>
              <a:t>SE DER ESTE ERRO ABAIXO QUANDO COMPILAR O PROGRAMA ANTERIOR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419EF5-0EB3-407B-B7AC-BA9E75F9A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2" y="1544434"/>
            <a:ext cx="10924534" cy="1748834"/>
          </a:xfrm>
          <a:prstGeom prst="rect">
            <a:avLst/>
          </a:prstGeom>
        </p:spPr>
      </p:pic>
      <p:sp>
        <p:nvSpPr>
          <p:cNvPr id="6" name="Espaço Reservado para Conteúdo 7">
            <a:extLst>
              <a:ext uri="{FF2B5EF4-FFF2-40B4-BE49-F238E27FC236}">
                <a16:creationId xmlns:a16="http://schemas.microsoft.com/office/drawing/2014/main" id="{B14139B5-06F1-478F-A20E-A5337006C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7516" y="3429000"/>
            <a:ext cx="10776322" cy="2978497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è"/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Verifique a versão do NUMPY, no Prompt de Comando ===&gt;</a:t>
            </a: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endParaRPr lang="pt-B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è"/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a versão não seja a 1.26.4, por favor faça a instalação da versão 1.26.4</a:t>
            </a: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8328" lvl="1" indent="0" algn="just"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769482-C2EC-4143-8B92-E865F6CC9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018" y="3353007"/>
            <a:ext cx="3573982" cy="74646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5249796-3D33-4A9C-AE93-696029D82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90" y="4177422"/>
            <a:ext cx="2576787" cy="86724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75ABE5A-BFB4-47E9-B3F6-0718B6423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694" y="3990408"/>
            <a:ext cx="4385984" cy="1503062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81CE5AA4-11E5-4232-8FEB-6F2187471174}"/>
              </a:ext>
            </a:extLst>
          </p:cNvPr>
          <p:cNvSpPr/>
          <p:nvPr/>
        </p:nvSpPr>
        <p:spPr>
          <a:xfrm>
            <a:off x="3545305" y="4437899"/>
            <a:ext cx="441158" cy="33688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8CB3752-7705-47E2-8447-4C85DC76A5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158" y="5990589"/>
            <a:ext cx="2854760" cy="83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04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37F6AC9E-0C64-5CA0-B1C3-C9D617530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559" y="20374"/>
            <a:ext cx="11776363" cy="68172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Fluxograma textual – PROGRAMA PARA RECONHECIMENTO FACIAL: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Início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Carregar o rosto cadastrado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Abrir o arquivo "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com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pickle.load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(file) para carregar as características faciais do usuário previamente cadastradas.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Inicializar a câmera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Iniciar a captura de vídeo com cv2.VideoCapture(0).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mensagem ao usuário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a mensagem: "Sistema de Reconhecimento Ativado. Pressione 'q' para sair."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 principal (enquanto o programa estiver rodando)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Iniciar um loop contínuo para capturar imagens da câmera e realizar o reconhecimento facial.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imagem da câmera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um frame da câmera com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frame =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Detecção de faces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Detectar a localização das faces no frame com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Obter os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encodings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(características faciais) das faces detectadas com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cada face detectada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cada face e sua localização: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Comparar o rosto atual com o rosto cadastrado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Usar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face_recognition.compare_faces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my_face_encoding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face_encoding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tolerance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=0.6) para comparar o rosto detectado com o rosto cadastrado.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Definir o rótulo e a cor do retângulo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o rosto for reconhecido (match encontrado):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"Reconhecido: Você"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Verde (0, 255, 0)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o rosto não for reconhecido: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"Não Reconhecido"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Vermelho (0, 0, 255)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Desenhar o retângulo e exibir a mensagem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Desenhar um retângulo ao redor da face com cv2.rectangle(frame, (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top), (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color, 2).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o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(mensagem) perto do rosto com cv2.putText(frame,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top - 10), cv2.FONT_HERSHEY_SIMPLEX, 0.9, color, 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o frame com os resultados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Mostrar o frame com as faces detectadas e as mensagens (reconhecido ou não) com cv2.imshow("Reconhecimento Facial", frame).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Verificar se a tecla 'q' foi pressionada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Aguardar a tecla 'q' ser pressionada para sair do loop. Se 'q' for pressionada, sair do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Liberar a câmera e fechar a janela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Liberar os recursos da câmera com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Fechar a janela do </a:t>
            </a:r>
            <a:r>
              <a:rPr kumimoji="0" lang="pt-BR" altLang="pt-BR" sz="11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cv2.destroyAllWindows().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r>
              <a:rPr kumimoji="0" lang="pt-BR" altLang="pt-BR" sz="11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  <a:endParaRPr kumimoji="0" lang="pt-BR" altLang="pt-BR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834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1B65702-A994-3B66-8514-6F7EFFD94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311" y="437744"/>
            <a:ext cx="5902764" cy="37856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Início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Carregar o rosto cadastrado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Abrir o arquivo "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pickle.load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(file) para carregar as características faciais do usuário previamente cadastradas.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Inicializar a câmera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FF33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Iniciar a captura de vídeo com cv2.VideoCapture(0).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99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mensagem ao usuário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FF99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a mensagem: "Sistema de Reconhecimento Ativado. Pressione 'q' para sair."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4C8CEF-E8B1-97BE-C92A-A50F6FA0F3C2}"/>
              </a:ext>
            </a:extLst>
          </p:cNvPr>
          <p:cNvSpPr txBox="1"/>
          <p:nvPr/>
        </p:nvSpPr>
        <p:spPr>
          <a:xfrm>
            <a:off x="5885746" y="437458"/>
            <a:ext cx="6296526" cy="36009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endParaRPr lang="pt-BR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cv2</a:t>
            </a:r>
          </a:p>
          <a:p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pickle</a:t>
            </a:r>
            <a:endParaRPr lang="pt-BR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# Carregar o rosto cadastrado</a:t>
            </a:r>
          </a:p>
          <a:p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open("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 as file:</a:t>
            </a:r>
          </a:p>
          <a:p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my_face_encoding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pickle.load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(file)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# Inicializar a câmera</a:t>
            </a:r>
          </a:p>
          <a:p>
            <a:r>
              <a:rPr lang="pt-BR" sz="1200" b="1" dirty="0" err="1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video_capture</a:t>
            </a:r>
            <a:r>
              <a:rPr lang="pt-BR" sz="1200" b="1" dirty="0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cv2.VideoCapture(0)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print("Sistema Ativado. Pressione 'q' para sair.")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636F662-41B3-580A-F1B5-A568A778B51D}"/>
              </a:ext>
            </a:extLst>
          </p:cNvPr>
          <p:cNvCxnSpPr>
            <a:cxnSpLocks/>
          </p:cNvCxnSpPr>
          <p:nvPr/>
        </p:nvCxnSpPr>
        <p:spPr>
          <a:xfrm>
            <a:off x="639011" y="587074"/>
            <a:ext cx="5256463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FC45DF3-E4B1-0942-9A30-17FF3B07E6CD}"/>
              </a:ext>
            </a:extLst>
          </p:cNvPr>
          <p:cNvCxnSpPr>
            <a:cxnSpLocks/>
          </p:cNvCxnSpPr>
          <p:nvPr/>
        </p:nvCxnSpPr>
        <p:spPr>
          <a:xfrm>
            <a:off x="2323432" y="1493452"/>
            <a:ext cx="3572042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E719931-AA83-75B9-11CF-10428627BC2D}"/>
              </a:ext>
            </a:extLst>
          </p:cNvPr>
          <p:cNvCxnSpPr>
            <a:cxnSpLocks/>
          </p:cNvCxnSpPr>
          <p:nvPr/>
        </p:nvCxnSpPr>
        <p:spPr>
          <a:xfrm>
            <a:off x="1681748" y="2415873"/>
            <a:ext cx="4213726" cy="0"/>
          </a:xfrm>
          <a:prstGeom prst="straightConnector1">
            <a:avLst/>
          </a:prstGeom>
          <a:ln w="28575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A553E15-A514-7577-044C-28668FC4BC16}"/>
              </a:ext>
            </a:extLst>
          </p:cNvPr>
          <p:cNvCxnSpPr>
            <a:cxnSpLocks/>
          </p:cNvCxnSpPr>
          <p:nvPr/>
        </p:nvCxnSpPr>
        <p:spPr>
          <a:xfrm>
            <a:off x="2379580" y="3153810"/>
            <a:ext cx="3515894" cy="0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28C4330-D0C3-2B1B-D246-64D4AB289192}"/>
              </a:ext>
            </a:extLst>
          </p:cNvPr>
          <p:cNvSpPr txBox="1"/>
          <p:nvPr/>
        </p:nvSpPr>
        <p:spPr>
          <a:xfrm>
            <a:off x="2936071" y="37634"/>
            <a:ext cx="6883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Detalhamento do código em função do fluxograma textual</a:t>
            </a:r>
          </a:p>
        </p:txBody>
      </p:sp>
    </p:spTree>
    <p:extLst>
      <p:ext uri="{BB962C8B-B14F-4D97-AF65-F5344CB8AC3E}">
        <p14:creationId xmlns:p14="http://schemas.microsoft.com/office/powerpoint/2010/main" val="2825369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4253C383-9C9C-8FC4-D9E5-6DB833558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953" y="5199"/>
            <a:ext cx="4507565" cy="69249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 principal (enquanto o programa estiver rodando)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FF33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Iniciar um loop contínuo para capturar imagens da câmera e realizar o reconhecimento facial.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imagem da câmera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Capturar um frame da câmera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captura =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Detecção de faces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Detectar a localização das faces no frame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Obter os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encodings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(características faciais) das faces detectadas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cada face detectada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cada face e sua localização: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Comparar o rosto atual com o rosto cadastrado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Usar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face_recognition.compare_faces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my_face_encoding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face_encoding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tolerance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=0.6) para comparar o rosto detectado com o rosto cadastrado.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Definir o rótulo e a cor do retângulo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o rosto for reconhecido (match encontrado):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"Reconhecido: Você"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Verde (0, 255, 0)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o rosto não for reconhecido: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"Não Reconhecido"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Vermelho (0, 0, 255)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Desenhar o retângulo e exibir a mensagem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Desenhar um retângulo ao redor da face com cv2.rectangle(frame, (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top), (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color, 2).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o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(mensagem) perto do rosto com cv2.putText(frame,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top - 10), cv2.FONT_HERSHEY_SIMPLEX, 0.9, color, 2).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A3C8DE-F9EE-435B-BE7D-F83B8AB57C78}"/>
              </a:ext>
            </a:extLst>
          </p:cNvPr>
          <p:cNvSpPr txBox="1"/>
          <p:nvPr/>
        </p:nvSpPr>
        <p:spPr>
          <a:xfrm>
            <a:off x="4444127" y="24063"/>
            <a:ext cx="7747873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200" b="1" dirty="0" err="1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sz="1200" b="1" dirty="0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1" dirty="0" err="1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1200" b="1" dirty="0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frame = </a:t>
            </a:r>
            <a:r>
              <a:rPr lang="pt-BR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# Encontrar faces no frame capturado</a:t>
            </a:r>
          </a:p>
          <a:p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(frame)</a:t>
            </a:r>
          </a:p>
          <a:p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pt-BR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face_encoding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zip(</a:t>
            </a:r>
            <a:r>
              <a:rPr lang="pt-BR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# Comparar o rosto atual com o rosto cadastrado</a:t>
            </a:r>
          </a:p>
          <a:p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matches =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face_recognition.compare_faces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my_face_encoding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face_encoding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tolerance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=0.6)</a:t>
            </a:r>
          </a:p>
          <a:p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top,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face_location</a:t>
            </a:r>
            <a:endParaRPr lang="pt-BR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matches[0]:</a:t>
            </a:r>
          </a:p>
          <a:p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"Reconhecido: Você"</a:t>
            </a:r>
          </a:p>
          <a:p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color = (0, 255, 0)  # Verde</a:t>
            </a:r>
          </a:p>
          <a:p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"Não Reconhecido"</a:t>
            </a:r>
          </a:p>
          <a:p>
            <a:r>
              <a:rPr lang="pt-BR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color = (0, 0, 255)  # Vermelho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# Desenhar o retângulo ao redor da face e exibir a mensagem</a:t>
            </a:r>
          </a:p>
          <a:p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cv2.rectangle(frame, (</a:t>
            </a:r>
            <a:r>
              <a:rPr lang="pt-BR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top), (</a:t>
            </a:r>
            <a:r>
              <a:rPr lang="pt-BR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color, 2)</a:t>
            </a:r>
          </a:p>
          <a:p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cv2.putText(frame, </a:t>
            </a:r>
            <a:r>
              <a:rPr lang="pt-BR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pt-BR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top - 10), cv2.FONT_HERSHEY_SIMPLEX, 0.9, color, 2)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3DA5D9C-727C-89A9-3E81-A812B76BCFF3}"/>
              </a:ext>
            </a:extLst>
          </p:cNvPr>
          <p:cNvCxnSpPr>
            <a:cxnSpLocks/>
          </p:cNvCxnSpPr>
          <p:nvPr/>
        </p:nvCxnSpPr>
        <p:spPr>
          <a:xfrm>
            <a:off x="4130842" y="165371"/>
            <a:ext cx="393032" cy="0"/>
          </a:xfrm>
          <a:prstGeom prst="straightConnector1">
            <a:avLst/>
          </a:prstGeom>
          <a:ln w="28575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B273604-F3D6-F9CE-B164-ED0783F49DAE}"/>
              </a:ext>
            </a:extLst>
          </p:cNvPr>
          <p:cNvCxnSpPr>
            <a:cxnSpLocks/>
          </p:cNvCxnSpPr>
          <p:nvPr/>
        </p:nvCxnSpPr>
        <p:spPr>
          <a:xfrm>
            <a:off x="2245895" y="742887"/>
            <a:ext cx="2406316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0C1DF6B-6E7F-FAAE-B196-C1733FB2334A}"/>
              </a:ext>
            </a:extLst>
          </p:cNvPr>
          <p:cNvCxnSpPr>
            <a:cxnSpLocks/>
          </p:cNvCxnSpPr>
          <p:nvPr/>
        </p:nvCxnSpPr>
        <p:spPr>
          <a:xfrm>
            <a:off x="1515979" y="1280297"/>
            <a:ext cx="313623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EFCE428-D163-87F9-4CA9-000EE1D70F90}"/>
              </a:ext>
            </a:extLst>
          </p:cNvPr>
          <p:cNvCxnSpPr>
            <a:cxnSpLocks/>
          </p:cNvCxnSpPr>
          <p:nvPr/>
        </p:nvCxnSpPr>
        <p:spPr>
          <a:xfrm>
            <a:off x="2021305" y="2379182"/>
            <a:ext cx="2630906" cy="0"/>
          </a:xfrm>
          <a:prstGeom prst="straightConnector1">
            <a:avLst/>
          </a:prstGeom>
          <a:ln w="28575">
            <a:solidFill>
              <a:srgbClr val="CC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3FECCCD-C987-7C3A-E1D4-17DEFE16CD66}"/>
              </a:ext>
            </a:extLst>
          </p:cNvPr>
          <p:cNvCxnSpPr>
            <a:cxnSpLocks/>
          </p:cNvCxnSpPr>
          <p:nvPr/>
        </p:nvCxnSpPr>
        <p:spPr>
          <a:xfrm>
            <a:off x="3681663" y="2748150"/>
            <a:ext cx="970548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132919C1-42BB-0DE9-37A2-EF7E97487F30}"/>
              </a:ext>
            </a:extLst>
          </p:cNvPr>
          <p:cNvCxnSpPr>
            <a:cxnSpLocks/>
          </p:cNvCxnSpPr>
          <p:nvPr/>
        </p:nvCxnSpPr>
        <p:spPr>
          <a:xfrm>
            <a:off x="3737811" y="4023497"/>
            <a:ext cx="970548" cy="0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F2AABAC6-6393-9BEF-F1C6-62A1E1431890}"/>
              </a:ext>
            </a:extLst>
          </p:cNvPr>
          <p:cNvCxnSpPr>
            <a:cxnSpLocks/>
          </p:cNvCxnSpPr>
          <p:nvPr/>
        </p:nvCxnSpPr>
        <p:spPr>
          <a:xfrm>
            <a:off x="4223085" y="5507392"/>
            <a:ext cx="58954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627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8DE88C1-F0CE-BE8F-EBFB-6D73B45E5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042" y="-8488"/>
            <a:ext cx="4507565" cy="47089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o frame com os resultados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Mostrar o frame com as faces detectadas e as mensagens (reconhecido ou não) com cv2.imshow("Reconhecimento Facial", frame).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Verificar se a tecla 'q' foi pressionada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Aguardar a tecla 'q' ser pressionada para sair do loop. Se 'q' for pressionada, sair do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Liberar a câmera e fechar a janela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rgbClr val="FF33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Liberar os recursos da câmera com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Fechar a janela do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cv2.destroyAllWindows().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lang="pt-BR" alt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42CD3F-B192-4818-88BF-9B8C06AF1881}"/>
              </a:ext>
            </a:extLst>
          </p:cNvPr>
          <p:cNvSpPr txBox="1"/>
          <p:nvPr/>
        </p:nvSpPr>
        <p:spPr>
          <a:xfrm>
            <a:off x="4444127" y="-1707"/>
            <a:ext cx="7747873" cy="36009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cv2.imshow("Reconhecimento Facial", frame)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# Pressionar 'q' para sair</a:t>
            </a:r>
          </a:p>
          <a:p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cv2.waitKey(1) &amp; 0xFF == </a:t>
            </a:r>
            <a:r>
              <a:rPr lang="pt-BR" sz="1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('q'):</a:t>
            </a:r>
          </a:p>
          <a:p>
            <a:r>
              <a:rPr lang="pt-BR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 err="1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lang="pt-BR" sz="1200" b="1" dirty="0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pt-BR" sz="1200" b="1" dirty="0">
                <a:solidFill>
                  <a:srgbClr val="FF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8E8E8F0-0BFF-8FC3-07DA-5B240B9217BE}"/>
              </a:ext>
            </a:extLst>
          </p:cNvPr>
          <p:cNvCxnSpPr>
            <a:cxnSpLocks/>
          </p:cNvCxnSpPr>
          <p:nvPr/>
        </p:nvCxnSpPr>
        <p:spPr>
          <a:xfrm>
            <a:off x="2671010" y="149329"/>
            <a:ext cx="1773117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61C50D0-A5AE-0875-C3C2-85257122AFB9}"/>
              </a:ext>
            </a:extLst>
          </p:cNvPr>
          <p:cNvCxnSpPr>
            <a:cxnSpLocks/>
          </p:cNvCxnSpPr>
          <p:nvPr/>
        </p:nvCxnSpPr>
        <p:spPr>
          <a:xfrm>
            <a:off x="3047999" y="887266"/>
            <a:ext cx="1396128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6A7B0B8-DF58-2F6F-B4E4-B1D9A3D46D7D}"/>
              </a:ext>
            </a:extLst>
          </p:cNvPr>
          <p:cNvCxnSpPr>
            <a:cxnSpLocks/>
          </p:cNvCxnSpPr>
          <p:nvPr/>
        </p:nvCxnSpPr>
        <p:spPr>
          <a:xfrm>
            <a:off x="2791325" y="1432697"/>
            <a:ext cx="1652802" cy="0"/>
          </a:xfrm>
          <a:prstGeom prst="straightConnector1">
            <a:avLst/>
          </a:prstGeom>
          <a:ln w="28575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54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3D42689-C895-7FA2-A0CD-0C5DE9646771}"/>
              </a:ext>
            </a:extLst>
          </p:cNvPr>
          <p:cNvSpPr txBox="1"/>
          <p:nvPr/>
        </p:nvSpPr>
        <p:spPr>
          <a:xfrm>
            <a:off x="436605" y="415979"/>
            <a:ext cx="372350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cv2</a:t>
            </a:r>
          </a:p>
          <a:p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pickle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# Carregar o rosto cadastrado</a:t>
            </a:r>
          </a:p>
          <a:p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open("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meu_rosto.pkl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") as file: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my_face_encoding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pickle.load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(file)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# Inicializar a câmera</a:t>
            </a:r>
          </a:p>
          <a:p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video_capture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= cv2.VideoCapture(0)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print("Sistema Ativado. Pressione 'q' para sair.")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DE6C1A-48F6-AEE6-6905-9EDB79C59F8F}"/>
              </a:ext>
            </a:extLst>
          </p:cNvPr>
          <p:cNvSpPr txBox="1"/>
          <p:nvPr/>
        </p:nvSpPr>
        <p:spPr>
          <a:xfrm>
            <a:off x="4160109" y="415979"/>
            <a:ext cx="774787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ret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frame =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video_capture.read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# Encontrar faces no frame capturado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face_recognition.face_locations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(frame)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face_recognition.face_encodings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(frame,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for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face_encoding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in zip(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face_encodings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# Comparar o rosto atual com o rosto cadastrado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matches =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face_recognition.compare_faces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my_face_encoding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face_encoding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tolerance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=0.6)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top,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face_location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matches[0]: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= "Reconhecido: Você"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    color = (0, 255, 0)  # Verde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= "Não Reconhecido"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    color = (0, 0, 255)  # Vermelho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# Desenhar o retângulo ao redor da face e exibir a mensagem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cv2.rectangle(frame, (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top), (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), color, 2)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cv2.putText(frame,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, top - 10), cv2.FONT_HERSHEY_SIMPLEX, 0.9, color, 2)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cv2.imshow("Reconhecimento Facial", frame)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# Pressionar 'q' para sair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cv2.waitKey(1) &amp; 0xFF ==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('q'):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video_capture.release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cv2.destroyAllWindows()</a:t>
            </a:r>
          </a:p>
          <a:p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0EDB9D0-B6B2-299D-5A06-B0B556449081}"/>
              </a:ext>
            </a:extLst>
          </p:cNvPr>
          <p:cNvCxnSpPr/>
          <p:nvPr/>
        </p:nvCxnSpPr>
        <p:spPr>
          <a:xfrm>
            <a:off x="4160109" y="518984"/>
            <a:ext cx="0" cy="6260757"/>
          </a:xfrm>
          <a:prstGeom prst="line">
            <a:avLst/>
          </a:prstGeom>
          <a:ln w="28575">
            <a:solidFill>
              <a:srgbClr val="202C8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77CC1F-B44D-0016-0111-9BE8F0198D3B}"/>
              </a:ext>
            </a:extLst>
          </p:cNvPr>
          <p:cNvSpPr txBox="1"/>
          <p:nvPr/>
        </p:nvSpPr>
        <p:spPr>
          <a:xfrm>
            <a:off x="1621057" y="25597"/>
            <a:ext cx="894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Código para fazer o reconhecimento de uma face (igual ao código detalhado)</a:t>
            </a:r>
          </a:p>
        </p:txBody>
      </p:sp>
    </p:spTree>
    <p:extLst>
      <p:ext uri="{BB962C8B-B14F-4D97-AF65-F5344CB8AC3E}">
        <p14:creationId xmlns:p14="http://schemas.microsoft.com/office/powerpoint/2010/main" val="3358753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3B9246A5-EC2A-E833-3F92-64FD8916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81" y="2922587"/>
            <a:ext cx="10510838" cy="101282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202C8F"/>
                </a:solidFill>
              </a:rPr>
              <a:t>Dica para abrir a câmera, capturar a imagem e salvar o frame</a:t>
            </a:r>
          </a:p>
        </p:txBody>
      </p:sp>
    </p:spTree>
    <p:extLst>
      <p:ext uri="{BB962C8B-B14F-4D97-AF65-F5344CB8AC3E}">
        <p14:creationId xmlns:p14="http://schemas.microsoft.com/office/powerpoint/2010/main" val="5562532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44CBF82-0DB8-8FAD-309E-C1911FC3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8" y="386423"/>
            <a:ext cx="11454882" cy="1293028"/>
          </a:xfrm>
        </p:spPr>
        <p:txBody>
          <a:bodyPr/>
          <a:lstStyle/>
          <a:p>
            <a:r>
              <a:rPr lang="pt-BR" b="1" dirty="0">
                <a:solidFill>
                  <a:srgbClr val="202C8F"/>
                </a:solidFill>
              </a:rPr>
              <a:t>Exemplo abrir câmera e imagem</a:t>
            </a:r>
            <a:br>
              <a:rPr lang="pt-BR" b="1" dirty="0">
                <a:solidFill>
                  <a:srgbClr val="202C8F"/>
                </a:solidFill>
              </a:rPr>
            </a:br>
            <a:r>
              <a:rPr lang="pt-BR" b="1" dirty="0">
                <a:solidFill>
                  <a:srgbClr val="202C8F"/>
                </a:solidFill>
              </a:rPr>
              <a:t>botões usados no projeto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C232142-EAE0-FB03-C6D0-50D128936C9A}"/>
              </a:ext>
            </a:extLst>
          </p:cNvPr>
          <p:cNvGrpSpPr/>
          <p:nvPr/>
        </p:nvGrpSpPr>
        <p:grpSpPr>
          <a:xfrm>
            <a:off x="317241" y="1587199"/>
            <a:ext cx="11454882" cy="5253301"/>
            <a:chOff x="317241" y="1587199"/>
            <a:chExt cx="11454882" cy="5253301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3423CEA6-BFEE-DB86-8294-BF7EB6D65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241" y="1587199"/>
              <a:ext cx="11454882" cy="5253301"/>
            </a:xfrm>
            <a:prstGeom prst="rect">
              <a:avLst/>
            </a:prstGeom>
          </p:spPr>
        </p:pic>
        <p:cxnSp>
          <p:nvCxnSpPr>
            <p:cNvPr id="9" name="Conector: Angulado 8">
              <a:extLst>
                <a:ext uri="{FF2B5EF4-FFF2-40B4-BE49-F238E27FC236}">
                  <a16:creationId xmlns:a16="http://schemas.microsoft.com/office/drawing/2014/main" id="{10D04300-C0D4-A40A-1847-CB8C1AE3491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3174" y="4134379"/>
              <a:ext cx="2514901" cy="1667075"/>
            </a:xfrm>
            <a:prstGeom prst="bentConnector3">
              <a:avLst>
                <a:gd name="adj1" fmla="val 284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: Angulado 9">
              <a:extLst>
                <a:ext uri="{FF2B5EF4-FFF2-40B4-BE49-F238E27FC236}">
                  <a16:creationId xmlns:a16="http://schemas.microsoft.com/office/drawing/2014/main" id="{7F190127-45CE-49C5-F6ED-041D80FDC09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12368" y="3900188"/>
              <a:ext cx="6046249" cy="2334509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: Angulado 10">
              <a:extLst>
                <a:ext uri="{FF2B5EF4-FFF2-40B4-BE49-F238E27FC236}">
                  <a16:creationId xmlns:a16="http://schemas.microsoft.com/office/drawing/2014/main" id="{A22AF782-98B5-E24F-1149-9695D784DCC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312371" y="2929808"/>
              <a:ext cx="6046247" cy="606495"/>
            </a:xfrm>
            <a:prstGeom prst="bentConnector3">
              <a:avLst>
                <a:gd name="adj1" fmla="val 99846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: Angulado 11">
              <a:extLst>
                <a:ext uri="{FF2B5EF4-FFF2-40B4-BE49-F238E27FC236}">
                  <a16:creationId xmlns:a16="http://schemas.microsoft.com/office/drawing/2014/main" id="{9C3E8DFD-232D-117E-D69D-C9FD304845C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634068" y="2929809"/>
              <a:ext cx="2740095" cy="422979"/>
            </a:xfrm>
            <a:prstGeom prst="bentConnector3">
              <a:avLst>
                <a:gd name="adj1" fmla="val 99716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: Angulado 12">
              <a:extLst>
                <a:ext uri="{FF2B5EF4-FFF2-40B4-BE49-F238E27FC236}">
                  <a16:creationId xmlns:a16="http://schemas.microsoft.com/office/drawing/2014/main" id="{746EB9C0-EF44-33E8-08C1-A62FB10AC6E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00815" y="2929809"/>
              <a:ext cx="7576452" cy="233255"/>
            </a:xfrm>
            <a:prstGeom prst="bentConnector3">
              <a:avLst>
                <a:gd name="adj1" fmla="val 99877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5066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57E69CF-9781-7E08-7413-4A7B625B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41" y="734034"/>
            <a:ext cx="11062499" cy="765847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202C8F"/>
                </a:solidFill>
              </a:rPr>
              <a:t>Áreas para mostrar a imagem da câmera e de uma imagem salva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ECB49C4-9949-502D-44DB-2BC77C730DF9}"/>
              </a:ext>
            </a:extLst>
          </p:cNvPr>
          <p:cNvGrpSpPr/>
          <p:nvPr/>
        </p:nvGrpSpPr>
        <p:grpSpPr>
          <a:xfrm>
            <a:off x="317241" y="1587199"/>
            <a:ext cx="11454882" cy="5253301"/>
            <a:chOff x="317241" y="1587199"/>
            <a:chExt cx="11454882" cy="5253301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5E62D4D-ED36-54E1-3E6E-6E4028680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241" y="1587199"/>
              <a:ext cx="11454882" cy="5253301"/>
            </a:xfrm>
            <a:prstGeom prst="rect">
              <a:avLst/>
            </a:prstGeom>
          </p:spPr>
        </p:pic>
        <p:cxnSp>
          <p:nvCxnSpPr>
            <p:cNvPr id="8" name="Conector: Angulado 7">
              <a:extLst>
                <a:ext uri="{FF2B5EF4-FFF2-40B4-BE49-F238E27FC236}">
                  <a16:creationId xmlns:a16="http://schemas.microsoft.com/office/drawing/2014/main" id="{9B81DA88-A85F-3A3A-6467-DFBF13C6BAA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69976" y="2799170"/>
              <a:ext cx="7007294" cy="1539563"/>
            </a:xfrm>
            <a:prstGeom prst="bentConnector3">
              <a:avLst>
                <a:gd name="adj1" fmla="val 100067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: Angulado 8">
              <a:extLst>
                <a:ext uri="{FF2B5EF4-FFF2-40B4-BE49-F238E27FC236}">
                  <a16:creationId xmlns:a16="http://schemas.microsoft.com/office/drawing/2014/main" id="{F0224E75-F9B4-D251-1663-0DEA6990D4D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6081" y="2973805"/>
              <a:ext cx="2771189" cy="1374260"/>
            </a:xfrm>
            <a:prstGeom prst="bentConnector3">
              <a:avLst>
                <a:gd name="adj1" fmla="val 100505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32586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AF0ED5C-41A7-CE21-6E95-568DCFAD7FFF}"/>
              </a:ext>
            </a:extLst>
          </p:cNvPr>
          <p:cNvSpPr txBox="1"/>
          <p:nvPr/>
        </p:nvSpPr>
        <p:spPr>
          <a:xfrm>
            <a:off x="0" y="1551"/>
            <a:ext cx="9451910" cy="7017306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sys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cv2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from</a:t>
            </a:r>
            <a:r>
              <a:rPr lang="pt-BR" sz="1500" dirty="0">
                <a:solidFill>
                  <a:schemeClr val="bg1"/>
                </a:solidFill>
              </a:rPr>
              <a:t> PyQt5.QtCore </a:t>
            </a:r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QTimer</a:t>
            </a:r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from</a:t>
            </a:r>
            <a:r>
              <a:rPr lang="pt-BR" sz="1500" dirty="0">
                <a:solidFill>
                  <a:schemeClr val="bg1"/>
                </a:solidFill>
              </a:rPr>
              <a:t> PyQt5 </a:t>
            </a:r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QtCore</a:t>
            </a:r>
            <a:r>
              <a:rPr lang="pt-BR" sz="1500" dirty="0">
                <a:solidFill>
                  <a:schemeClr val="bg1"/>
                </a:solidFill>
              </a:rPr>
              <a:t>, </a:t>
            </a:r>
            <a:r>
              <a:rPr lang="pt-BR" sz="1500" dirty="0" err="1">
                <a:solidFill>
                  <a:schemeClr val="bg1"/>
                </a:solidFill>
              </a:rPr>
              <a:t>QtGui</a:t>
            </a:r>
            <a:r>
              <a:rPr lang="pt-BR" sz="1500" dirty="0">
                <a:solidFill>
                  <a:schemeClr val="bg1"/>
                </a:solidFill>
              </a:rPr>
              <a:t>, </a:t>
            </a:r>
            <a:r>
              <a:rPr lang="pt-BR" sz="1500" dirty="0" err="1">
                <a:solidFill>
                  <a:schemeClr val="bg1"/>
                </a:solidFill>
              </a:rPr>
              <a:t>QtWidgets</a:t>
            </a:r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from</a:t>
            </a:r>
            <a:r>
              <a:rPr lang="pt-BR" sz="1500" dirty="0">
                <a:solidFill>
                  <a:schemeClr val="bg1"/>
                </a:solidFill>
              </a:rPr>
              <a:t> PyQt5.QtWidgets </a:t>
            </a:r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QFileDialog</a:t>
            </a:r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from</a:t>
            </a:r>
            <a:r>
              <a:rPr lang="pt-BR" sz="1500" dirty="0">
                <a:solidFill>
                  <a:schemeClr val="bg1"/>
                </a:solidFill>
              </a:rPr>
              <a:t> PyQt5.QtGui </a:t>
            </a:r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QImage</a:t>
            </a:r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from</a:t>
            </a:r>
            <a:r>
              <a:rPr lang="pt-BR" sz="1500" dirty="0">
                <a:solidFill>
                  <a:schemeClr val="bg1"/>
                </a:solidFill>
              </a:rPr>
              <a:t> PyQt5.QtGui </a:t>
            </a:r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QPixmap</a:t>
            </a:r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from</a:t>
            </a:r>
            <a:r>
              <a:rPr lang="pt-BR" sz="1500" dirty="0">
                <a:solidFill>
                  <a:schemeClr val="bg1"/>
                </a:solidFill>
              </a:rPr>
              <a:t> PyQt5 </a:t>
            </a:r>
            <a:r>
              <a:rPr lang="pt-BR" sz="1500" dirty="0" err="1">
                <a:solidFill>
                  <a:schemeClr val="bg1"/>
                </a:solidFill>
              </a:rPr>
              <a:t>import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uic</a:t>
            </a:r>
            <a:endParaRPr lang="pt-BR" sz="1500" dirty="0">
              <a:solidFill>
                <a:schemeClr val="bg1"/>
              </a:solidFill>
            </a:endParaRPr>
          </a:p>
          <a:p>
            <a:endParaRPr lang="pt-BR" sz="11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def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funcao_abrecam</a:t>
            </a:r>
            <a:r>
              <a:rPr lang="pt-BR" sz="1500" dirty="0">
                <a:solidFill>
                  <a:schemeClr val="bg1"/>
                </a:solidFill>
              </a:rPr>
              <a:t>():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global capture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capture = cv2.VideoCapture(0, cv2.CAP_DSHOW)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dimensions</a:t>
            </a:r>
            <a:r>
              <a:rPr lang="pt-BR" sz="1500" dirty="0">
                <a:solidFill>
                  <a:schemeClr val="bg1"/>
                </a:solidFill>
              </a:rPr>
              <a:t> = (640,480)</a:t>
            </a:r>
          </a:p>
          <a:p>
            <a:endParaRPr lang="pt-BR" sz="1050" dirty="0">
              <a:solidFill>
                <a:schemeClr val="bg1"/>
              </a:solidFill>
            </a:endParaRP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timer.setInterval</a:t>
            </a:r>
            <a:r>
              <a:rPr lang="pt-BR" sz="1500" dirty="0">
                <a:solidFill>
                  <a:schemeClr val="bg1"/>
                </a:solidFill>
              </a:rPr>
              <a:t>(50)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timer.timeout.connect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get_frame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timer.start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def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get_frame</a:t>
            </a:r>
            <a:r>
              <a:rPr lang="pt-BR" sz="1500" dirty="0">
                <a:solidFill>
                  <a:schemeClr val="bg1"/>
                </a:solidFill>
              </a:rPr>
              <a:t>():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ok, frame = </a:t>
            </a:r>
            <a:r>
              <a:rPr lang="pt-BR" sz="1500" dirty="0" err="1">
                <a:solidFill>
                  <a:schemeClr val="bg1"/>
                </a:solidFill>
              </a:rPr>
              <a:t>capture.read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image</a:t>
            </a:r>
            <a:r>
              <a:rPr lang="pt-BR" sz="1500" dirty="0">
                <a:solidFill>
                  <a:schemeClr val="bg1"/>
                </a:solidFill>
              </a:rPr>
              <a:t> = </a:t>
            </a:r>
            <a:r>
              <a:rPr lang="pt-BR" sz="1500" dirty="0" err="1">
                <a:solidFill>
                  <a:schemeClr val="bg1"/>
                </a:solidFill>
              </a:rPr>
              <a:t>QImage</a:t>
            </a:r>
            <a:r>
              <a:rPr lang="pt-BR" sz="1500" dirty="0">
                <a:solidFill>
                  <a:schemeClr val="bg1"/>
                </a:solidFill>
              </a:rPr>
              <a:t>(frame,640,480, QImage.Format_RGB888).</a:t>
            </a:r>
            <a:r>
              <a:rPr lang="pt-BR" sz="1500" dirty="0" err="1">
                <a:solidFill>
                  <a:schemeClr val="bg1"/>
                </a:solidFill>
              </a:rPr>
              <a:t>rgbSwapped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pixmap</a:t>
            </a:r>
            <a:r>
              <a:rPr lang="pt-BR" sz="1500" dirty="0">
                <a:solidFill>
                  <a:schemeClr val="bg1"/>
                </a:solidFill>
              </a:rPr>
              <a:t> = </a:t>
            </a:r>
            <a:r>
              <a:rPr lang="pt-BR" sz="1500" dirty="0" err="1">
                <a:solidFill>
                  <a:schemeClr val="bg1"/>
                </a:solidFill>
              </a:rPr>
              <a:t>QPixmap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image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janela.AreaCamera.setPixmap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pixmap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    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def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funcao_abreimagem</a:t>
            </a:r>
            <a:r>
              <a:rPr lang="pt-BR" sz="1500" dirty="0">
                <a:solidFill>
                  <a:schemeClr val="bg1"/>
                </a:solidFill>
              </a:rPr>
              <a:t>():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nome_arquivo</a:t>
            </a:r>
            <a:r>
              <a:rPr lang="pt-BR" sz="1500" dirty="0">
                <a:solidFill>
                  <a:schemeClr val="bg1"/>
                </a:solidFill>
              </a:rPr>
              <a:t> = </a:t>
            </a:r>
            <a:r>
              <a:rPr lang="pt-BR" sz="1500" dirty="0" err="1">
                <a:solidFill>
                  <a:schemeClr val="bg1"/>
                </a:solidFill>
              </a:rPr>
              <a:t>QFileDialog.getOpenFileName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filter</a:t>
            </a:r>
            <a:r>
              <a:rPr lang="pt-BR" sz="1500" dirty="0">
                <a:solidFill>
                  <a:schemeClr val="bg1"/>
                </a:solidFill>
              </a:rPr>
              <a:t>="</a:t>
            </a:r>
            <a:r>
              <a:rPr lang="pt-BR" sz="1500" dirty="0" err="1">
                <a:solidFill>
                  <a:schemeClr val="bg1"/>
                </a:solidFill>
              </a:rPr>
              <a:t>Image</a:t>
            </a:r>
            <a:r>
              <a:rPr lang="pt-BR" sz="1500" dirty="0">
                <a:solidFill>
                  <a:schemeClr val="bg1"/>
                </a:solidFill>
              </a:rPr>
              <a:t> (*.*)")[0]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imagem_color</a:t>
            </a:r>
            <a:r>
              <a:rPr lang="pt-BR" sz="1500" dirty="0">
                <a:solidFill>
                  <a:schemeClr val="bg1"/>
                </a:solidFill>
              </a:rPr>
              <a:t> = cv2.imread(</a:t>
            </a:r>
            <a:r>
              <a:rPr lang="pt-BR" sz="1500" dirty="0" err="1">
                <a:solidFill>
                  <a:schemeClr val="bg1"/>
                </a:solidFill>
              </a:rPr>
              <a:t>nome_arquivo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cv2.imwrite('imagem_original.png', </a:t>
            </a:r>
            <a:r>
              <a:rPr lang="pt-BR" sz="1500" dirty="0" err="1">
                <a:solidFill>
                  <a:schemeClr val="bg1"/>
                </a:solidFill>
              </a:rPr>
              <a:t>imagem_color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pixmap</a:t>
            </a:r>
            <a:r>
              <a:rPr lang="pt-BR" sz="1500" dirty="0">
                <a:solidFill>
                  <a:schemeClr val="bg1"/>
                </a:solidFill>
              </a:rPr>
              <a:t> = </a:t>
            </a:r>
            <a:r>
              <a:rPr lang="pt-BR" sz="1500" dirty="0" err="1">
                <a:solidFill>
                  <a:schemeClr val="bg1"/>
                </a:solidFill>
              </a:rPr>
              <a:t>QPixmap</a:t>
            </a:r>
            <a:r>
              <a:rPr lang="pt-BR" sz="1500" dirty="0">
                <a:solidFill>
                  <a:schemeClr val="bg1"/>
                </a:solidFill>
              </a:rPr>
              <a:t>('imagem_original.png')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janela.AreaImagem.setPixmap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pixmap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" name="Chave Direita 5">
            <a:extLst>
              <a:ext uri="{FF2B5EF4-FFF2-40B4-BE49-F238E27FC236}">
                <a16:creationId xmlns:a16="http://schemas.microsoft.com/office/drawing/2014/main" id="{B869DE7D-AE0D-F712-D212-6060F7FB79D0}"/>
              </a:ext>
            </a:extLst>
          </p:cNvPr>
          <p:cNvSpPr/>
          <p:nvPr/>
        </p:nvSpPr>
        <p:spPr>
          <a:xfrm>
            <a:off x="5010539" y="2304661"/>
            <a:ext cx="138503" cy="681730"/>
          </a:xfrm>
          <a:prstGeom prst="rightBrace">
            <a:avLst>
              <a:gd name="adj1" fmla="val 69069"/>
              <a:gd name="adj2" fmla="val 50000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33CD99D6-7203-8B81-B9CE-99F737665F9E}"/>
              </a:ext>
            </a:extLst>
          </p:cNvPr>
          <p:cNvSpPr/>
          <p:nvPr/>
        </p:nvSpPr>
        <p:spPr>
          <a:xfrm>
            <a:off x="3623386" y="3161488"/>
            <a:ext cx="141218" cy="552095"/>
          </a:xfrm>
          <a:prstGeom prst="rightBrace">
            <a:avLst>
              <a:gd name="adj1" fmla="val 69069"/>
              <a:gd name="adj2" fmla="val 50000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8CD05FE4-6971-4E48-A88E-DC4CED7278EE}"/>
              </a:ext>
            </a:extLst>
          </p:cNvPr>
          <p:cNvSpPr/>
          <p:nvPr/>
        </p:nvSpPr>
        <p:spPr>
          <a:xfrm>
            <a:off x="8151777" y="4533089"/>
            <a:ext cx="4040223" cy="2323360"/>
          </a:xfrm>
          <a:prstGeom prst="wedgeRoundRectCallout">
            <a:avLst>
              <a:gd name="adj1" fmla="val -75592"/>
              <a:gd name="adj2" fmla="val -42867"/>
              <a:gd name="adj3" fmla="val 1666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rgbSwapped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Este método está sendo chamado na instância da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QImage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Este método troca os valores dos canais vermelho (R) e azul (B) para cada pixel na imagem. Isso pode ser útil, por exemplo, se a imagem estiver em um formato BGR (comum em algumas bibliotecas e câmeras) e você quiser convertê-la para o formato RGB.</a:t>
            </a:r>
          </a:p>
        </p:txBody>
      </p:sp>
      <p:sp>
        <p:nvSpPr>
          <p:cNvPr id="9" name="Balão de Fala: Retângulo com Cantos Arredondados 8">
            <a:extLst>
              <a:ext uri="{FF2B5EF4-FFF2-40B4-BE49-F238E27FC236}">
                <a16:creationId xmlns:a16="http://schemas.microsoft.com/office/drawing/2014/main" id="{52E4E4C7-20D7-F52F-8569-E605BBE72B88}"/>
              </a:ext>
            </a:extLst>
          </p:cNvPr>
          <p:cNvSpPr/>
          <p:nvPr/>
        </p:nvSpPr>
        <p:spPr>
          <a:xfrm>
            <a:off x="8242573" y="2529018"/>
            <a:ext cx="3949427" cy="1817034"/>
          </a:xfrm>
          <a:prstGeom prst="wedgeRoundRectCallout">
            <a:avLst>
              <a:gd name="adj1" fmla="val -115080"/>
              <a:gd name="adj2" fmla="val 55986"/>
              <a:gd name="adj3" fmla="val 1666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QImage.Format_RGB888  </a:t>
            </a:r>
            <a:r>
              <a:rPr lang="pt-BR" sz="18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 o formato da imagem como RGB888, o que significa que a imagem tem três canais (vermelho, verde e azul) com 8 bits para cada canal.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2232BCC-6566-014E-B71C-3D339057C2FD}"/>
              </a:ext>
            </a:extLst>
          </p:cNvPr>
          <p:cNvSpPr/>
          <p:nvPr/>
        </p:nvSpPr>
        <p:spPr>
          <a:xfrm>
            <a:off x="29184" y="3955814"/>
            <a:ext cx="7902104" cy="1326305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B1A8ED9-CF70-8018-235E-36E985FB7CC8}"/>
              </a:ext>
            </a:extLst>
          </p:cNvPr>
          <p:cNvSpPr/>
          <p:nvPr/>
        </p:nvSpPr>
        <p:spPr>
          <a:xfrm>
            <a:off x="25936" y="2026492"/>
            <a:ext cx="7902104" cy="1817034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EB09F4B-2813-ECE7-06E5-EDAF93211AC8}"/>
              </a:ext>
            </a:extLst>
          </p:cNvPr>
          <p:cNvSpPr/>
          <p:nvPr/>
        </p:nvSpPr>
        <p:spPr>
          <a:xfrm>
            <a:off x="16211" y="5401992"/>
            <a:ext cx="7902104" cy="1456008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Balão de Fala: Retângulo com Cantos Arredondados 12">
            <a:extLst>
              <a:ext uri="{FF2B5EF4-FFF2-40B4-BE49-F238E27FC236}">
                <a16:creationId xmlns:a16="http://schemas.microsoft.com/office/drawing/2014/main" id="{52D14454-8624-EE10-B54D-63DD988F2EB5}"/>
              </a:ext>
            </a:extLst>
          </p:cNvPr>
          <p:cNvSpPr/>
          <p:nvPr/>
        </p:nvSpPr>
        <p:spPr>
          <a:xfrm>
            <a:off x="3988341" y="3031853"/>
            <a:ext cx="3842427" cy="681730"/>
          </a:xfrm>
          <a:prstGeom prst="wedgeRoundRectCallout">
            <a:avLst>
              <a:gd name="adj1" fmla="val -55525"/>
              <a:gd name="adj2" fmla="val 4891"/>
              <a:gd name="adj3" fmla="val 1666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rgbClr val="FFFF00"/>
                </a:solidFill>
              </a:rPr>
              <a:t>Este trecho seta o intervalo do timer (50ms) e sempre que atinge o tempo, a função </a:t>
            </a:r>
            <a:r>
              <a:rPr lang="pt-BR" sz="1400" b="1" dirty="0" err="1">
                <a:solidFill>
                  <a:srgbClr val="FFFF00"/>
                </a:solidFill>
              </a:rPr>
              <a:t>get_frame</a:t>
            </a:r>
            <a:r>
              <a:rPr lang="pt-BR" sz="1400" b="1" dirty="0">
                <a:solidFill>
                  <a:srgbClr val="FFFF00"/>
                </a:solidFill>
              </a:rPr>
              <a:t> é chamada.</a:t>
            </a:r>
          </a:p>
        </p:txBody>
      </p:sp>
    </p:spTree>
    <p:extLst>
      <p:ext uri="{BB962C8B-B14F-4D97-AF65-F5344CB8AC3E}">
        <p14:creationId xmlns:p14="http://schemas.microsoft.com/office/powerpoint/2010/main" val="5085109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ECE5F99-CD6A-19B4-448E-6BB3FE9ACF8D}"/>
              </a:ext>
            </a:extLst>
          </p:cNvPr>
          <p:cNvSpPr txBox="1"/>
          <p:nvPr/>
        </p:nvSpPr>
        <p:spPr>
          <a:xfrm>
            <a:off x="0" y="9331"/>
            <a:ext cx="9535886" cy="7017306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pt-BR" sz="1500" dirty="0" err="1">
                <a:solidFill>
                  <a:schemeClr val="bg1"/>
                </a:solidFill>
              </a:rPr>
              <a:t>def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funcao_fechacam</a:t>
            </a:r>
            <a:r>
              <a:rPr lang="pt-BR" sz="1500" dirty="0">
                <a:solidFill>
                  <a:schemeClr val="bg1"/>
                </a:solidFill>
              </a:rPr>
              <a:t>():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timer.stop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capture.release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endParaRPr lang="pt-BR" sz="1500" dirty="0">
              <a:solidFill>
                <a:schemeClr val="bg1"/>
              </a:solidFill>
            </a:endParaRPr>
          </a:p>
          <a:p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def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funcao_sair</a:t>
            </a:r>
            <a:r>
              <a:rPr lang="pt-BR" sz="1500" dirty="0">
                <a:solidFill>
                  <a:schemeClr val="bg1"/>
                </a:solidFill>
              </a:rPr>
              <a:t>():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</a:t>
            </a:r>
            <a:r>
              <a:rPr lang="pt-BR" sz="1500" dirty="0" err="1">
                <a:solidFill>
                  <a:schemeClr val="bg1"/>
                </a:solidFill>
              </a:rPr>
              <a:t>janela.close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endParaRPr lang="pt-BR" sz="1500" dirty="0">
              <a:solidFill>
                <a:schemeClr val="bg1"/>
              </a:solidFill>
            </a:endParaRPr>
          </a:p>
          <a:p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def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  <a:r>
              <a:rPr lang="pt-BR" sz="1500" dirty="0" err="1">
                <a:solidFill>
                  <a:schemeClr val="bg1"/>
                </a:solidFill>
              </a:rPr>
              <a:t>funcao_salvaframe</a:t>
            </a:r>
            <a:r>
              <a:rPr lang="pt-BR" sz="1500" dirty="0">
                <a:solidFill>
                  <a:schemeClr val="bg1"/>
                </a:solidFill>
              </a:rPr>
              <a:t>():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ok, frame = </a:t>
            </a:r>
            <a:r>
              <a:rPr lang="pt-BR" sz="1500" dirty="0" err="1">
                <a:solidFill>
                  <a:schemeClr val="bg1"/>
                </a:solidFill>
              </a:rPr>
              <a:t>capture.read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r>
              <a:rPr lang="pt-BR" sz="1500" dirty="0">
                <a:solidFill>
                  <a:schemeClr val="bg1"/>
                </a:solidFill>
              </a:rPr>
              <a:t>    cv2.imwrite('foto.png', frame)</a:t>
            </a:r>
          </a:p>
          <a:p>
            <a:endParaRPr lang="pt-BR" sz="1500" dirty="0">
              <a:solidFill>
                <a:schemeClr val="bg1"/>
              </a:solidFill>
            </a:endParaRPr>
          </a:p>
          <a:p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>
                <a:solidFill>
                  <a:schemeClr val="bg1"/>
                </a:solidFill>
              </a:rPr>
              <a:t>timer = </a:t>
            </a:r>
            <a:r>
              <a:rPr lang="pt-BR" sz="1500" dirty="0" err="1">
                <a:solidFill>
                  <a:schemeClr val="bg1"/>
                </a:solidFill>
              </a:rPr>
              <a:t>QtCore.QTimer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endParaRPr lang="pt-BR" sz="1500" dirty="0">
              <a:solidFill>
                <a:schemeClr val="bg1"/>
              </a:solidFill>
            </a:endParaRPr>
          </a:p>
          <a:p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>
                <a:solidFill>
                  <a:schemeClr val="bg1"/>
                </a:solidFill>
              </a:rPr>
              <a:t>app = </a:t>
            </a:r>
            <a:r>
              <a:rPr lang="pt-BR" sz="1500" dirty="0" err="1">
                <a:solidFill>
                  <a:schemeClr val="bg1"/>
                </a:solidFill>
              </a:rPr>
              <a:t>QtWidgets.QApplication</a:t>
            </a:r>
            <a:r>
              <a:rPr lang="pt-BR" sz="1500" dirty="0">
                <a:solidFill>
                  <a:schemeClr val="bg1"/>
                </a:solidFill>
              </a:rPr>
              <a:t>([])</a:t>
            </a:r>
          </a:p>
          <a:p>
            <a:r>
              <a:rPr lang="pt-BR" sz="1500" dirty="0">
                <a:solidFill>
                  <a:schemeClr val="bg1"/>
                </a:solidFill>
              </a:rPr>
              <a:t>janela = </a:t>
            </a:r>
            <a:r>
              <a:rPr lang="pt-BR" sz="1500" dirty="0" err="1">
                <a:solidFill>
                  <a:schemeClr val="bg1"/>
                </a:solidFill>
              </a:rPr>
              <a:t>uic.loadUi</a:t>
            </a:r>
            <a:r>
              <a:rPr lang="pt-BR" sz="1500" dirty="0">
                <a:solidFill>
                  <a:schemeClr val="bg1"/>
                </a:solidFill>
              </a:rPr>
              <a:t>("</a:t>
            </a:r>
            <a:r>
              <a:rPr lang="pt-BR" sz="1500" dirty="0" err="1">
                <a:solidFill>
                  <a:schemeClr val="bg1"/>
                </a:solidFill>
              </a:rPr>
              <a:t>camera_imagem_qt_py.ui</a:t>
            </a:r>
            <a:r>
              <a:rPr lang="pt-BR" sz="1500" dirty="0">
                <a:solidFill>
                  <a:schemeClr val="bg1"/>
                </a:solidFill>
              </a:rPr>
              <a:t>")</a:t>
            </a:r>
          </a:p>
          <a:p>
            <a:endParaRPr lang="pt-BR" sz="1500" dirty="0">
              <a:solidFill>
                <a:schemeClr val="bg1"/>
              </a:solidFill>
            </a:endParaRPr>
          </a:p>
          <a:p>
            <a:endParaRPr lang="pt-BR" sz="15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janela.Btn_AbreCam.clicked.connect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funcao_abrecam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janela.Btn_AbreImagem.clicked.connect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funcao_abreimagem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janela.Btn_FechaCam.clicked.connect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funcao_fechacam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janela.Btn_Sair.clicked.connect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funcao_sair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janela.Btn_SalvaFrame.clicked.connect</a:t>
            </a:r>
            <a:r>
              <a:rPr lang="pt-BR" sz="1500" dirty="0">
                <a:solidFill>
                  <a:schemeClr val="bg1"/>
                </a:solidFill>
              </a:rPr>
              <a:t>(</a:t>
            </a:r>
            <a:r>
              <a:rPr lang="pt-BR" sz="1500" dirty="0" err="1">
                <a:solidFill>
                  <a:schemeClr val="bg1"/>
                </a:solidFill>
              </a:rPr>
              <a:t>funcao_salvaframe</a:t>
            </a:r>
            <a:r>
              <a:rPr lang="pt-BR" sz="1500" dirty="0">
                <a:solidFill>
                  <a:schemeClr val="bg1"/>
                </a:solidFill>
              </a:rPr>
              <a:t>)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1500" dirty="0" err="1">
                <a:solidFill>
                  <a:schemeClr val="bg1"/>
                </a:solidFill>
              </a:rPr>
              <a:t>janela.show</a:t>
            </a:r>
            <a:r>
              <a:rPr lang="pt-BR" sz="1500" dirty="0">
                <a:solidFill>
                  <a:schemeClr val="bg1"/>
                </a:solidFill>
              </a:rPr>
              <a:t>()</a:t>
            </a:r>
          </a:p>
          <a:p>
            <a:r>
              <a:rPr lang="pt-BR" sz="1500" dirty="0" err="1">
                <a:solidFill>
                  <a:schemeClr val="bg1"/>
                </a:solidFill>
              </a:rPr>
              <a:t>app.exec</a:t>
            </a:r>
            <a:r>
              <a:rPr lang="pt-BR" sz="1500" dirty="0">
                <a:solidFill>
                  <a:schemeClr val="bg1"/>
                </a:solidFill>
              </a:rPr>
              <a:t>_()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1902257-0D5A-7764-F392-2A42927272EE}"/>
              </a:ext>
            </a:extLst>
          </p:cNvPr>
          <p:cNvSpPr/>
          <p:nvPr/>
        </p:nvSpPr>
        <p:spPr>
          <a:xfrm>
            <a:off x="35664" y="4769707"/>
            <a:ext cx="7902104" cy="1348998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8ADECC7-8C73-FBDC-F2C7-8870A0C529B9}"/>
              </a:ext>
            </a:extLst>
          </p:cNvPr>
          <p:cNvSpPr/>
          <p:nvPr/>
        </p:nvSpPr>
        <p:spPr>
          <a:xfrm>
            <a:off x="42145" y="3142032"/>
            <a:ext cx="7902104" cy="570681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80FC55-E71D-C63A-0631-6794DF47576C}"/>
              </a:ext>
            </a:extLst>
          </p:cNvPr>
          <p:cNvSpPr/>
          <p:nvPr/>
        </p:nvSpPr>
        <p:spPr>
          <a:xfrm>
            <a:off x="38912" y="38515"/>
            <a:ext cx="7902104" cy="875886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19DCB6-03FC-D711-BD57-18406D2E37DD}"/>
              </a:ext>
            </a:extLst>
          </p:cNvPr>
          <p:cNvSpPr/>
          <p:nvPr/>
        </p:nvSpPr>
        <p:spPr>
          <a:xfrm>
            <a:off x="35664" y="1076129"/>
            <a:ext cx="7902104" cy="807714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4C9EE24-FEC5-BADA-CD81-8640AA6B6B05}"/>
              </a:ext>
            </a:extLst>
          </p:cNvPr>
          <p:cNvSpPr/>
          <p:nvPr/>
        </p:nvSpPr>
        <p:spPr>
          <a:xfrm>
            <a:off x="35664" y="2045571"/>
            <a:ext cx="7902104" cy="911942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A360C4E-E466-A56F-C64E-9D6175ECA66C}"/>
              </a:ext>
            </a:extLst>
          </p:cNvPr>
          <p:cNvSpPr/>
          <p:nvPr/>
        </p:nvSpPr>
        <p:spPr>
          <a:xfrm>
            <a:off x="42145" y="3930361"/>
            <a:ext cx="7902104" cy="570681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0FFE201-5961-8F21-4517-6F6EA2B5A74A}"/>
              </a:ext>
            </a:extLst>
          </p:cNvPr>
          <p:cNvSpPr/>
          <p:nvPr/>
        </p:nvSpPr>
        <p:spPr>
          <a:xfrm>
            <a:off x="42145" y="6329304"/>
            <a:ext cx="7902104" cy="570681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Balão de Fala: Retângulo com Cantos Arredondados 12">
            <a:extLst>
              <a:ext uri="{FF2B5EF4-FFF2-40B4-BE49-F238E27FC236}">
                <a16:creationId xmlns:a16="http://schemas.microsoft.com/office/drawing/2014/main" id="{DDBB2BB4-7058-C615-4F11-A0C43C5D0AB1}"/>
              </a:ext>
            </a:extLst>
          </p:cNvPr>
          <p:cNvSpPr/>
          <p:nvPr/>
        </p:nvSpPr>
        <p:spPr>
          <a:xfrm>
            <a:off x="8117633" y="1735493"/>
            <a:ext cx="3713583" cy="1977219"/>
          </a:xfrm>
          <a:prstGeom prst="wedgeRoundRectCallout">
            <a:avLst>
              <a:gd name="adj1" fmla="val -204217"/>
              <a:gd name="adj2" fmla="val 34952"/>
              <a:gd name="adj3" fmla="val 1666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Importante criar uma instância do objeto </a:t>
            </a:r>
            <a:r>
              <a:rPr lang="pt-BR" dirty="0" err="1"/>
              <a:t>Qtimer</a:t>
            </a:r>
            <a:r>
              <a:rPr lang="pt-BR" dirty="0"/>
              <a:t> do módulo </a:t>
            </a:r>
            <a:r>
              <a:rPr lang="pt-BR" dirty="0" err="1"/>
              <a:t>QtCore</a:t>
            </a:r>
            <a:r>
              <a:rPr lang="pt-BR" dirty="0"/>
              <a:t> fora da função onde o timer é executado.</a:t>
            </a:r>
          </a:p>
        </p:txBody>
      </p:sp>
      <p:sp>
        <p:nvSpPr>
          <p:cNvPr id="14" name="Balão de Fala: Retângulo com Cantos Arredondados 13">
            <a:extLst>
              <a:ext uri="{FF2B5EF4-FFF2-40B4-BE49-F238E27FC236}">
                <a16:creationId xmlns:a16="http://schemas.microsoft.com/office/drawing/2014/main" id="{7EF523CA-96C7-D91B-DDDC-80BE01500FA0}"/>
              </a:ext>
            </a:extLst>
          </p:cNvPr>
          <p:cNvSpPr/>
          <p:nvPr/>
        </p:nvSpPr>
        <p:spPr>
          <a:xfrm>
            <a:off x="8186057" y="39420"/>
            <a:ext cx="3713583" cy="874982"/>
          </a:xfrm>
          <a:prstGeom prst="wedgeRoundRectCallout">
            <a:avLst>
              <a:gd name="adj1" fmla="val -230850"/>
              <a:gd name="adj2" fmla="val -7703"/>
              <a:gd name="adj3" fmla="val 1666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Quando fecha a câmera é importante parar o timer.</a:t>
            </a:r>
          </a:p>
        </p:txBody>
      </p:sp>
    </p:spTree>
    <p:extLst>
      <p:ext uri="{BB962C8B-B14F-4D97-AF65-F5344CB8AC3E}">
        <p14:creationId xmlns:p14="http://schemas.microsoft.com/office/powerpoint/2010/main" val="83753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0A86A-A1C2-69EC-36C7-4E71D681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47" y="619611"/>
            <a:ext cx="10511627" cy="529249"/>
          </a:xfrm>
        </p:spPr>
        <p:txBody>
          <a:bodyPr/>
          <a:lstStyle/>
          <a:p>
            <a:r>
              <a:rPr lang="pt-BR" dirty="0"/>
              <a:t>Memorial descritivo do projeto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263889-8D95-65D4-057E-673DA478D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046" y="1432929"/>
            <a:ext cx="10918092" cy="519842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Desenvolver uma portaria remota com acesso via reconhecimento facial. </a:t>
            </a:r>
          </a:p>
          <a:p>
            <a:pPr algn="just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Requisitos do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QtDesign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Usar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QtDesign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para elaborar a interface e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como linguagem de programação.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Na interface deverá ser possível habilitar a captura de faces (pelo menos 5 faces).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Na interface deverá mostrar o monitoramento em “real time”.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 sistema deve ser feito um retângulo na face identificada.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a pessoa cadastrada for identificada, deverá ser acionado um ESP32/ESP8266 via serial, e este deverá acionar um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solenóide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(liberação da fechadura magnética), indicando “acesso liberado”.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 a pessoa não está cadastrada, deverá acionar um ESP32/ESP8266 via serial, e este deverá acionar um led vermelho, indicando “acesso negado”.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Na interface deve aparecer uma mensagem de “Acesso Liberado” ou “Acesso Negado”.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Requisitos do ESP32/ESP8266: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Comunicação via serial com o PC.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Receber requisições do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controlando o led vermelho e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solenóide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(usar o TIP122 –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Darlington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533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A0A5F-817B-B984-0FE3-682AE525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567828"/>
            <a:ext cx="10511627" cy="537064"/>
          </a:xfrm>
        </p:spPr>
        <p:txBody>
          <a:bodyPr/>
          <a:lstStyle/>
          <a:p>
            <a:r>
              <a:rPr lang="pt-BR" dirty="0"/>
              <a:t>Diagrama em blocos do projeto 4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2FC7CC4-08BB-B642-3180-D5CBC38C7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80668" y="3244119"/>
            <a:ext cx="2953687" cy="15454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A4E1B63-76C0-67FB-F5C7-05801585E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480622" y="2524371"/>
            <a:ext cx="1945404" cy="10550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C20CB5C-75C9-0E81-6620-6BB25070F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324" y="4518023"/>
            <a:ext cx="300317" cy="122629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7DBC00C-ED3C-14F4-30C7-E2C6A9C898B8}"/>
              </a:ext>
            </a:extLst>
          </p:cNvPr>
          <p:cNvCxnSpPr>
            <a:cxnSpLocks/>
            <a:stCxn id="12" idx="0"/>
            <a:endCxn id="14" idx="3"/>
          </p:cNvCxnSpPr>
          <p:nvPr/>
        </p:nvCxnSpPr>
        <p:spPr>
          <a:xfrm flipV="1">
            <a:off x="8230244" y="3051910"/>
            <a:ext cx="1250378" cy="96494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2A02F432-5B3A-3D68-0ADD-1F66309EA41C}"/>
              </a:ext>
            </a:extLst>
          </p:cNvPr>
          <p:cNvCxnSpPr>
            <a:cxnSpLocks/>
            <a:stCxn id="12" idx="0"/>
            <a:endCxn id="16" idx="1"/>
          </p:cNvCxnSpPr>
          <p:nvPr/>
        </p:nvCxnSpPr>
        <p:spPr>
          <a:xfrm>
            <a:off x="8230244" y="4016852"/>
            <a:ext cx="2223080" cy="111431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900FE960-2DB2-C9B0-A2A2-CD61F0158B2C}"/>
              </a:ext>
            </a:extLst>
          </p:cNvPr>
          <p:cNvCxnSpPr>
            <a:cxnSpLocks/>
            <a:stCxn id="5" idx="3"/>
            <a:endCxn id="12" idx="2"/>
          </p:cNvCxnSpPr>
          <p:nvPr/>
        </p:nvCxnSpPr>
        <p:spPr>
          <a:xfrm flipV="1">
            <a:off x="5602321" y="4016852"/>
            <a:ext cx="1082459" cy="26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agem 37">
            <a:extLst>
              <a:ext uri="{FF2B5EF4-FFF2-40B4-BE49-F238E27FC236}">
                <a16:creationId xmlns:a16="http://schemas.microsoft.com/office/drawing/2014/main" id="{774E6A67-83D6-8B50-6660-27BEBEDE0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891" y="5405077"/>
            <a:ext cx="531240" cy="52630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7" name="Agrupar 46">
            <a:extLst>
              <a:ext uri="{FF2B5EF4-FFF2-40B4-BE49-F238E27FC236}">
                <a16:creationId xmlns:a16="http://schemas.microsoft.com/office/drawing/2014/main" id="{F39440D7-F993-3E70-7E4B-364E371066DC}"/>
              </a:ext>
            </a:extLst>
          </p:cNvPr>
          <p:cNvGrpSpPr/>
          <p:nvPr/>
        </p:nvGrpSpPr>
        <p:grpSpPr>
          <a:xfrm>
            <a:off x="858382" y="1176857"/>
            <a:ext cx="4743939" cy="5509231"/>
            <a:chOff x="858382" y="1176857"/>
            <a:chExt cx="4743939" cy="550923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82E36AAE-AE8C-A314-9D14-AEDF00C8A78E}"/>
                </a:ext>
              </a:extLst>
            </p:cNvPr>
            <p:cNvSpPr/>
            <p:nvPr/>
          </p:nvSpPr>
          <p:spPr>
            <a:xfrm>
              <a:off x="858382" y="1789727"/>
              <a:ext cx="4743939" cy="4454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82BEA5-8F62-4453-215A-2BB33061F910}"/>
                </a:ext>
              </a:extLst>
            </p:cNvPr>
            <p:cNvSpPr/>
            <p:nvPr/>
          </p:nvSpPr>
          <p:spPr>
            <a:xfrm>
              <a:off x="1024458" y="2520466"/>
              <a:ext cx="1912815" cy="3907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rgbClr val="202C8F"/>
                  </a:solidFill>
                </a:rPr>
                <a:t>Cadastro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10862FF7-8E19-A3A5-E30E-9FA38A950F6F}"/>
                </a:ext>
              </a:extLst>
            </p:cNvPr>
            <p:cNvSpPr/>
            <p:nvPr/>
          </p:nvSpPr>
          <p:spPr>
            <a:xfrm>
              <a:off x="3486305" y="2524373"/>
              <a:ext cx="1912815" cy="3907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rgbClr val="202C8F"/>
                  </a:solidFill>
                </a:rPr>
                <a:t>Monitoramento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77D0923-E19F-B5E2-B44D-39A54F16F363}"/>
                </a:ext>
              </a:extLst>
            </p:cNvPr>
            <p:cNvSpPr/>
            <p:nvPr/>
          </p:nvSpPr>
          <p:spPr>
            <a:xfrm>
              <a:off x="1024457" y="3063635"/>
              <a:ext cx="4374663" cy="25087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700" b="1" dirty="0">
                  <a:solidFill>
                    <a:srgbClr val="202C8F"/>
                  </a:solidFill>
                </a:rPr>
                <a:t>Campo para mostrar a imagem da câmera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A3335FE-2823-5E4B-0D0C-5605728172E8}"/>
                </a:ext>
              </a:extLst>
            </p:cNvPr>
            <p:cNvSpPr txBox="1"/>
            <p:nvPr/>
          </p:nvSpPr>
          <p:spPr>
            <a:xfrm>
              <a:off x="2191252" y="5637506"/>
              <a:ext cx="204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rgbClr val="00B050"/>
                  </a:solidFill>
                </a:rPr>
                <a:t>“Acesso Liberado”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B00EACA4-C97B-4A51-E49B-3E9E788A16B9}"/>
                </a:ext>
              </a:extLst>
            </p:cNvPr>
            <p:cNvSpPr txBox="1"/>
            <p:nvPr/>
          </p:nvSpPr>
          <p:spPr>
            <a:xfrm>
              <a:off x="914395" y="1831151"/>
              <a:ext cx="46319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b="1" i="1" dirty="0"/>
                <a:t>Portaria de Acesso por Reconhecimento Facial</a:t>
              </a:r>
            </a:p>
            <a:p>
              <a:pPr algn="ctr"/>
              <a:r>
                <a:rPr lang="pt-BR" b="1" i="1" dirty="0"/>
                <a:t>Fulano &amp; Beltrano</a:t>
              </a:r>
            </a:p>
          </p:txBody>
        </p:sp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7254D1AB-A456-058A-062A-EA17972CC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72269" y="1176857"/>
              <a:ext cx="1316159" cy="603100"/>
            </a:xfrm>
            <a:prstGeom prst="rect">
              <a:avLst/>
            </a:prstGeom>
          </p:spPr>
        </p:pic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EBE1D7B3-C2F9-5E5C-BCBD-00364B0C08E0}"/>
                </a:ext>
              </a:extLst>
            </p:cNvPr>
            <p:cNvGrpSpPr/>
            <p:nvPr/>
          </p:nvGrpSpPr>
          <p:grpSpPr>
            <a:xfrm>
              <a:off x="3265245" y="6173283"/>
              <a:ext cx="2192716" cy="512805"/>
              <a:chOff x="3365470" y="1739321"/>
              <a:chExt cx="2192716" cy="512805"/>
            </a:xfrm>
          </p:grpSpPr>
          <p:pic>
            <p:nvPicPr>
              <p:cNvPr id="34" name="Imagem 33">
                <a:extLst>
                  <a:ext uri="{FF2B5EF4-FFF2-40B4-BE49-F238E27FC236}">
                    <a16:creationId xmlns:a16="http://schemas.microsoft.com/office/drawing/2014/main" id="{E8AE6FE1-D9F0-46EF-6530-43EB1F6AC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65470" y="1753404"/>
                <a:ext cx="490606" cy="48584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36" name="Imagem 35">
                <a:extLst>
                  <a:ext uri="{FF2B5EF4-FFF2-40B4-BE49-F238E27FC236}">
                    <a16:creationId xmlns:a16="http://schemas.microsoft.com/office/drawing/2014/main" id="{5E53A1B7-E260-9BE0-9DBE-96F70BDC58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09293" y="1751704"/>
                <a:ext cx="513790" cy="48584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42" name="Agrupar 41">
                <a:extLst>
                  <a:ext uri="{FF2B5EF4-FFF2-40B4-BE49-F238E27FC236}">
                    <a16:creationId xmlns:a16="http://schemas.microsoft.com/office/drawing/2014/main" id="{81157507-BF1F-6F16-CE29-3AD266F037F4}"/>
                  </a:ext>
                </a:extLst>
              </p:cNvPr>
              <p:cNvGrpSpPr/>
              <p:nvPr/>
            </p:nvGrpSpPr>
            <p:grpSpPr>
              <a:xfrm>
                <a:off x="4472342" y="1746103"/>
                <a:ext cx="520384" cy="506023"/>
                <a:chOff x="7184076" y="1742445"/>
                <a:chExt cx="596960" cy="526362"/>
              </a:xfrm>
            </p:grpSpPr>
            <p:sp>
              <p:nvSpPr>
                <p:cNvPr id="41" name="Retângulo 40">
                  <a:extLst>
                    <a:ext uri="{FF2B5EF4-FFF2-40B4-BE49-F238E27FC236}">
                      <a16:creationId xmlns:a16="http://schemas.microsoft.com/office/drawing/2014/main" id="{592BC3D0-E1D3-2197-5AD9-114422653AB9}"/>
                    </a:ext>
                  </a:extLst>
                </p:cNvPr>
                <p:cNvSpPr/>
                <p:nvPr/>
              </p:nvSpPr>
              <p:spPr>
                <a:xfrm>
                  <a:off x="7184076" y="1742445"/>
                  <a:ext cx="596960" cy="52636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pic>
              <p:nvPicPr>
                <p:cNvPr id="40" name="Gráfico 39">
                  <a:extLst>
                    <a:ext uri="{FF2B5EF4-FFF2-40B4-BE49-F238E27FC236}">
                      <a16:creationId xmlns:a16="http://schemas.microsoft.com/office/drawing/2014/main" id="{DC095B7E-3852-3EBE-E772-1031259E9A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60652" y="1766858"/>
                  <a:ext cx="425906" cy="449905"/>
                </a:xfrm>
                <a:prstGeom prst="rect">
                  <a:avLst/>
                </a:prstGeom>
              </p:spPr>
            </p:pic>
          </p:grpSp>
          <p:grpSp>
            <p:nvGrpSpPr>
              <p:cNvPr id="45" name="Agrupar 44">
                <a:extLst>
                  <a:ext uri="{FF2B5EF4-FFF2-40B4-BE49-F238E27FC236}">
                    <a16:creationId xmlns:a16="http://schemas.microsoft.com/office/drawing/2014/main" id="{001B98A4-681B-549B-D348-574D1E878CF4}"/>
                  </a:ext>
                </a:extLst>
              </p:cNvPr>
              <p:cNvGrpSpPr/>
              <p:nvPr/>
            </p:nvGrpSpPr>
            <p:grpSpPr>
              <a:xfrm>
                <a:off x="5037802" y="1739321"/>
                <a:ext cx="520384" cy="512544"/>
                <a:chOff x="7244012" y="1638889"/>
                <a:chExt cx="520384" cy="493144"/>
              </a:xfrm>
            </p:grpSpPr>
            <p:sp>
              <p:nvSpPr>
                <p:cNvPr id="44" name="Retângulo 43">
                  <a:extLst>
                    <a:ext uri="{FF2B5EF4-FFF2-40B4-BE49-F238E27FC236}">
                      <a16:creationId xmlns:a16="http://schemas.microsoft.com/office/drawing/2014/main" id="{B30B021A-FFCE-671F-BF81-A20E825E64CA}"/>
                    </a:ext>
                  </a:extLst>
                </p:cNvPr>
                <p:cNvSpPr/>
                <p:nvPr/>
              </p:nvSpPr>
              <p:spPr>
                <a:xfrm>
                  <a:off x="7244012" y="1638889"/>
                  <a:ext cx="520384" cy="49314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pic>
              <p:nvPicPr>
                <p:cNvPr id="43" name="Picture 4" descr="Dlib - Wikipedia">
                  <a:extLst>
                    <a:ext uri="{FF2B5EF4-FFF2-40B4-BE49-F238E27FC236}">
                      <a16:creationId xmlns:a16="http://schemas.microsoft.com/office/drawing/2014/main" id="{EB805722-3A89-8FA9-F091-1AA5A5122AC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292230" y="1723197"/>
                  <a:ext cx="433091" cy="3090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69102433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{CB74253B-BC47-4784-BF7E-8E787BC38C78}tf78438558_win32</Template>
  <TotalTime>1760</TotalTime>
  <Words>7288</Words>
  <Application>Microsoft Office PowerPoint</Application>
  <PresentationFormat>Widescreen</PresentationFormat>
  <Paragraphs>843</Paragraphs>
  <Slides>43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Arial</vt:lpstr>
      <vt:lpstr>Arial Black</vt:lpstr>
      <vt:lpstr>Calibri</vt:lpstr>
      <vt:lpstr>Sabon Next LT</vt:lpstr>
      <vt:lpstr>Wingdings</vt:lpstr>
      <vt:lpstr>Personalizado</vt:lpstr>
      <vt:lpstr>reconhecimento facial  usando  Opencv + FACE_RECOGNITION   QtDesign + python + esp32  Prof. Anderson Terroso Novembro/2024</vt:lpstr>
      <vt:lpstr>agenda</vt:lpstr>
      <vt:lpstr>Instalação do cmake, dlib e face_recognition</vt:lpstr>
      <vt:lpstr>Observação importante: verificar a versão do numpy</vt:lpstr>
      <vt:lpstr>Opencv</vt:lpstr>
      <vt:lpstr>principais algoritmos e funcionalidades nativas do OpenCV</vt:lpstr>
      <vt:lpstr>Apresentação do PowerPoint</vt:lpstr>
      <vt:lpstr>Apresentação do PowerPoint</vt:lpstr>
      <vt:lpstr>Apresentação do PowerPoint</vt:lpstr>
      <vt:lpstr>Apresentação do PowerPoint</vt:lpstr>
      <vt:lpstr>Principais métodos do opencv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Reconhecimento facial</vt:lpstr>
      <vt:lpstr>Principais Funcionalidades:</vt:lpstr>
      <vt:lpstr>Principais Funções da Biblioteca:</vt:lpstr>
      <vt:lpstr>Apresentação do PowerPoint</vt:lpstr>
      <vt:lpstr>Apresentação do PowerPoint</vt:lpstr>
      <vt:lpstr>Import pinckle</vt:lpstr>
      <vt:lpstr>Principais funções do pickle</vt:lpstr>
      <vt:lpstr>Fluxograma textual captura &amp; reconhecimento facial  fluxograma textual x programa detalhado  programa da captura de face  &amp; programa para reconhecimento facial</vt:lpstr>
      <vt:lpstr>Apresentação do PowerPoint</vt:lpstr>
      <vt:lpstr>Apresentação do PowerPoint</vt:lpstr>
      <vt:lpstr>Apresentação do PowerPoint</vt:lpstr>
      <vt:lpstr>Apresentação do PowerPoint</vt:lpstr>
      <vt:lpstr>Atenção: SE DER ESTE ERRO ABAIXO QUANDO COMPILAR O PROGRAMA ANTERIOR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Dica para abrir a câmera, capturar a imagem e salvar o frame</vt:lpstr>
      <vt:lpstr>Exemplo abrir câmera e imagem botões usados no projeto</vt:lpstr>
      <vt:lpstr>Áreas para mostrar a imagem da câmera e de uma imagem salva</vt:lpstr>
      <vt:lpstr>Apresentação do PowerPoint</vt:lpstr>
      <vt:lpstr>Apresentação do PowerPoint</vt:lpstr>
      <vt:lpstr>Memorial descritivo do projeto 4</vt:lpstr>
      <vt:lpstr>Diagrama em blocos do projeto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reconhecimento facial  usando  Opencv + FACE_RECOGNITION   QtDesign + python + esp32  Prof. Anderson Terroso Novembro/2024</dc:title>
  <dc:subject/>
  <dc:creator>aterroso</dc:creator>
  <cp:lastModifiedBy>Anderson Royes Terroso</cp:lastModifiedBy>
  <cp:revision>11</cp:revision>
  <dcterms:created xsi:type="dcterms:W3CDTF">2024-11-15T14:35:39Z</dcterms:created>
  <dcterms:modified xsi:type="dcterms:W3CDTF">2025-06-12T20:07:07Z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